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  <p:sldId id="264" r:id="researchSlide9"/>
    <p:sldId id="265" r:id="researchSlide10"/>
    <p:sldId id="266" r:id="researchSlide11"/>
    <p:sldId id="267" r:id="researchSlide12"/>
    <p:sldId id="268" r:id="researchSlide13"/>
    <p:sldId id="269" r:id="researchSlide14"/>
    <p:sldId id="270" r:id="researchSlide15"/>
    <p:sldId id="271" r:id="researchSlide16"/>
    <p:sldId id="272" r:id="researchSlide17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Relationship Id="researchSlide9" Type="http://schemas.openxmlformats.org/officeDocument/2006/relationships/slide" Target="/ppt/slides/slide9.xml" /><Relationship Id="researchSlide10" Type="http://schemas.openxmlformats.org/officeDocument/2006/relationships/slide" Target="/ppt/slides/slide10.xml" /><Relationship Id="researchSlide11" Type="http://schemas.openxmlformats.org/officeDocument/2006/relationships/slide" Target="/ppt/slides/slide11.xml" /><Relationship Id="researchSlide12" Type="http://schemas.openxmlformats.org/officeDocument/2006/relationships/slide" Target="/ppt/slides/slide12.xml" /><Relationship Id="researchSlide13" Type="http://schemas.openxmlformats.org/officeDocument/2006/relationships/slide" Target="/ppt/slides/slide13.xml" /><Relationship Id="researchSlide14" Type="http://schemas.openxmlformats.org/officeDocument/2006/relationships/slide" Target="/ppt/slides/slide14.xml" /><Relationship Id="researchSlide15" Type="http://schemas.openxmlformats.org/officeDocument/2006/relationships/slide" Target="/ppt/slides/slide15.xml" /><Relationship Id="researchSlide16" Type="http://schemas.openxmlformats.org/officeDocument/2006/relationships/slide" Target="/ppt/slides/slide16.xml" /><Relationship Id="researchSlide17" Type="http://schemas.openxmlformats.org/officeDocument/2006/relationships/slide" Target="/ppt/slides/slide17.xml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6e48b80e4b834772" /><Relationship Type="http://schemas.openxmlformats.org/officeDocument/2006/relationships/notesMaster" Target="/ppt/notesMasters/notesMaster1.xml" Id="R6ea7d8a4598a4ea0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6e48b80e4b834772" /><Relationship Type="http://schemas.openxmlformats.org/officeDocument/2006/relationships/notesMaster" Target="/ppt/notesMasters/notesMaster1.xml" Id="R6ea7d8a4598a4ea0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6e48b80e4b834772" /><Relationship Type="http://schemas.openxmlformats.org/officeDocument/2006/relationships/notesMaster" Target="/ppt/notesMasters/notesMaster1.xml" Id="R6ea7d8a4598a4ea0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6e48b80e4b834772" /><Relationship Type="http://schemas.openxmlformats.org/officeDocument/2006/relationships/notesMaster" Target="/ppt/notesMasters/notesMaster1.xml" Id="R6ea7d8a4598a4ea0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6e48b80e4b834772" /><Relationship Type="http://schemas.openxmlformats.org/officeDocument/2006/relationships/notesMaster" Target="/ppt/notesMasters/notesMaster1.xml" Id="R6ea7d8a4598a4ea0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6e48b80e4b834772" /><Relationship Type="http://schemas.openxmlformats.org/officeDocument/2006/relationships/notesMaster" Target="/ppt/notesMasters/notesMaster1.xml" Id="R6ea7d8a4598a4ea0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6e48b80e4b834772" /><Relationship Type="http://schemas.openxmlformats.org/officeDocument/2006/relationships/notesMaster" Target="/ppt/notesMasters/notesMaster1.xml" Id="R6ea7d8a4598a4ea0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6e48b80e4b834772" /><Relationship Type="http://schemas.openxmlformats.org/officeDocument/2006/relationships/notesMaster" Target="/ppt/notesMasters/notesMaster1.xml" Id="R6ea7d8a4598a4ea0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6e48b80e4b834772" /><Relationship Type="http://schemas.openxmlformats.org/officeDocument/2006/relationships/notesMaster" Target="/ppt/notesMasters/notesMaster1.xml" Id="R6ea7d8a4598a4ea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6e48b80e4b834772" /><Relationship Type="http://schemas.openxmlformats.org/officeDocument/2006/relationships/notesMaster" Target="/ppt/notesMasters/notesMaster1.xml" Id="R6ea7d8a4598a4ea0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6e48b80e4b834772" /><Relationship Type="http://schemas.openxmlformats.org/officeDocument/2006/relationships/notesMaster" Target="/ppt/notesMasters/notesMaster1.xml" Id="R6ea7d8a4598a4ea0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6e48b80e4b834772" /><Relationship Type="http://schemas.openxmlformats.org/officeDocument/2006/relationships/notesMaster" Target="/ppt/notesMasters/notesMaster1.xml" Id="R6ea7d8a4598a4ea0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6e48b80e4b834772" /><Relationship Type="http://schemas.openxmlformats.org/officeDocument/2006/relationships/notesMaster" Target="/ppt/notesMasters/notesMaster1.xml" Id="R6ea7d8a4598a4ea0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6e48b80e4b834772" /><Relationship Type="http://schemas.openxmlformats.org/officeDocument/2006/relationships/notesMaster" Target="/ppt/notesMasters/notesMaster1.xml" Id="R6ea7d8a4598a4ea0" 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/ppt/slides/slide15.xml" Id="R6e48b80e4b834772" /><Relationship Type="http://schemas.openxmlformats.org/officeDocument/2006/relationships/notesMaster" Target="/ppt/notesMasters/notesMaster1.xml" Id="R6ea7d8a4598a4ea0" 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/ppt/slides/slide16.xml" Id="R6e48b80e4b834772" /><Relationship Type="http://schemas.openxmlformats.org/officeDocument/2006/relationships/notesMaster" Target="/ppt/notesMasters/notesMaster1.xml" Id="R6ea7d8a4598a4ea0" 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/ppt/slides/slide17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DOI:10.1007/s44295-026-00098-3；摘要、§1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讲解提示：本研究核心是统一硬件架构，海表温度预测是验证场景。关注计算、存储与控制如何协同，以及报告结果是否足以支持部署。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DOI:10.1007/s44295-026-00098-3；§1–2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讲解提示：贡献在架构与映射，不是提出新的海洋预测算法。FPGA的适用性需要结合目标设备功耗、成本与时延约束判断。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DOI:10.1007/s44295-026-00098-3；§1、§4.1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讲解提示：原文Fig.1说明串联式混合网络，实际验证模型则是ConvLSTM。这一区别决定门控映射与运算量的解释。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DOI:10.1007/s44295-026-00098-3；Fig.3, p.7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讲解提示：片外DRAM通过缓存与FIFO向计算阵列供数；解码与控制模块配置PE、SPE和EW。重点沿数据流向说明计算与搬运如何配合。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[{"kind": "paper_crop", "path": "/workspace/output/fpga-report/figures/Fig.3.png", "caption": "Fig.3  统一架构连接计算、存储与指令控制", "source": "来源：Wang et al. (2026), Fig.3, p.7", "provenance": {"paper_id": "wang2026", "figure": "Fig.3", "page": 7, "crop_bbox": [58, 100, 538, 277], "pdf_sha256": "ad9ccffe7f1244881c7e0ae65342ca0d813ef961ea0bbdb481fd19838a2e4361", "png_sha256": "5064950ba39509863f560081d90337e6d3f076b5836e6a6bceb61d42fa18c0df", "render_method": "pdf_clip", "dpi": 216,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DOI:10.1007/s44295-026-00098-3；§3.1、Fig.4–6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讲解提示：动态可重构在本文主要指指令驱动的数据通路与模式配置；不应自动理解为运行时重新加载FPGA位流。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DOI:10.1007/s44295-026-00098-3；Fig.4, p.7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讲解提示：按输入MUX、PE-ALU、输出DEMUX讲解；精度与操作码来自中央解码器，局部存储支撑数据复用。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[{"kind": "paper_crop", "path": "/workspace/output/fpga-report/figures/Fig.4.png", "caption": "Fig.4  PE 的多路选择器与路由支持模式切换", "source": "来源：Wang et al. (2026), Fig.4, p.7", "provenance": {"paper_id": "wang2026", "figure": "Fig.4", "page": 7, "crop_bbox": [58, 462, 538, 687], "pdf_sha256": "ad9ccffe7f1244881c7e0ae65342ca0d813ef961ea0bbdb481fd19838a2e4361", "png_sha256": "abf1294aa452585698a91c08803801c190fbbc1607929ec0e0df737f6547892e", "render_method": "pdf_clip", "dpi": 216,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DOI:10.1007/s44295-026-00098-3；§3.3–3.4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讲解提示：三种数据流并非固定绑定某一种网络，而是根据层结构、尺寸和复用需求选择。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DOI:10.1007/s44295-026-00098-3；Fig.7, p.10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讲解提示：原文支持8、16与32位整数模式。低精度时独立并行，高精度时组合级联；需区分硬件支持精度切换与已验证的精度策略。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[{"kind": "paper_crop", "path": "/workspace/output/fpga-report/figures/Fig.7.png", "caption": "Fig.7  低位宽乘法器通过级联支持多精度", "source": "来源：Wang et al. (2026), Fig.7, p.10", "provenance": {"paper_id": "wang2026", "figure": "Fig.7", "page": 10, "crop_bbox": [58, 520, 290, 677], "pdf_sha256": "ad9ccffe7f1244881c7e0ae65342ca0d813ef961ea0bbdb481fd19838a2e4361", "png_sha256": "5bcb063871677219fb7acf5994f5aa9fac5244ba53d918c18cf2585405dd3abe", "render_method": "pdf_clip", "dpi": 216,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DOI:10.1007/s44295-026-00098-3；§3.3–3.5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讲解提示：正文阐述了减少片外访问的设计动机；没有给出统一的带宽下降消融数据，不应补造具体节省比例。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DOI:10.1007/s44295-026-00098-3；Fig.8, p.11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讲解提示：CIW编码层类型、数据流、精度、卷积核、步幅与通道参数；4位操作码为扩展保留编码空间。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[{"kind": "paper_crop", "path": "/workspace/output/fpga-report/figures/Fig.8.png", "caption": "Fig.8  64 位指令编码层类型与运行配置", "source": "来源：Wang et al. (2026), Fig.8, p.11", "provenance": {"paper_id": "wang2026", "figure": "Fig.8", "page": 11, "crop_bbox": [58, 635, 539, 698], "pdf_sha256": "ad9ccffe7f1244881c7e0ae65342ca0d813ef961ea0bbdb481fd19838a2e4361", "png_sha256": "1b1a376081d9f8fca89d73e221af0b766515e43efb74a74f7cb8f411126b4258", "render_method": "pdf_clip", "dpi": 216,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DOI:10.1007/s44295-026-00098-3；Table4, p.13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讲解提示：模型为ConvLSTM2D、BN、ConvLSTM2D、BN、1×1 Conv2D。张量包括5个时间步、30×70空间网格，通道数为64与32。原文未充分交代数据集来源、划分与预测误差定义，复现信息需要补充。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[{"kind": "paper_crop", "path": "/workspace/output/fpga-report/figures/Table4.png", "caption": "Table4  验证模型以两层 ConvLSTM 进行海温预测", "source": "来源：Wang et al. (2026), Table4, p.13", "provenance": {"paper_id": "wang2026", "figure": "Table4", "page": 13, "crop_bbox": [54, 83, 295, 226], "pdf_sha256": "ad9ccffe7f1244881c7e0ae65342ca0d813ef961ea0bbdb481fd19838a2e4361", "png_sha256": "e2379c441e502027e8c0e7119f3bb577b4a841911bd5a92d9de7f7d9b17867df", "render_method": "pdf_clip", "dpi": 216,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DOI:10.1007/s44295-026-00098-3；§4、Table5–8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讲解提示：18.5/1.2≈15.4，数值关系自洽。但功耗测量范围、精度模式与吞吐统计条件需结合完整实现说明核实。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DOI:10.1007/s44295-026-00098-3；Table6, p.14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讲解提示：本方案相对Yang的功耗为1.2对1.85 W，使用834 DSP；相对Zhou时延为415对422 ms。多个比较项缺失，不可据此建立统一性能排名；不同模型与器件也限制直接比较。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[{"kind": "paper_crop", "path": "/workspace/output/fpga-report/figures/Table6.png", "caption": "Table6  混合模型比较显示低功耗与更高 DSP 使用", "source": "来源：Wang et al. (2026), Table6, p.14", "provenance": {"paper_id": "wang2026", "figure": "Table6", "page": 14, "crop_bbox": [54, 83, 542, 217], "pdf_sha256": "ad9ccffe7f1244881c7e0ae65342ca0d813ef961ea0bbdb481fd19838a2e4361", "png_sha256": "f23a22ea5a168f590ecdc37d68f9693c8b3cdf7e895635777f64e4e318ec790f", "render_method": "pdf_clip", "dpi": 216,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DOI:10.1007/s44295-026-00098-3；Tables7-8, p.14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讲解提示：完整保留两张原表。Table7和8列出本方案0.415 ms，而Table6及结论列415 ms，相差1000倍。Table8的32/16位Accuracy为98.9/79.5%，但并非清楚定义的海温预测误差，不宜直接称为海温预测准确率。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[{"kind": "paper_crop", "path": "/workspace/output/fpga-report/figures/Tables7-8.png", "caption": "Tables7-8  LSTM 与 CNN 的结果需要按任务分别读", "source": "来源：Wang et al. (2026), Tables7-8, p.14", "provenance": {"paper_id": "wang2026", "figure": "Tables7-8", "page": 14, "crop_bbox": [54, 233, 542, 494], "pdf_sha256": "ad9ccffe7f1244881c7e0ae65342ca0d813ef961ea0bbdb481fd19838a2e4361", "png_sha256": "dac7f00adb7118da5856fb8d0cb548de31ab5eb203d58494f562f77ba46d89f2", "render_method": "pdf_clip", "dpi": 216,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DOI:10.1007/s44295-026-00098-3；Table6–8、§4–5；评价为汇报者判断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讲解提示：这些问题应保留在一页集中讨论。不能自行猜测并修正原文单位，也不能声称本方案在所有指标上最好。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DOI:10.1007/s44295-026-00098-3；§5；研究建议为汇报者提出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讲解提示：可借鉴的是任务与数据复用共同决定架构配置的思路。部署前必须补全任务指标和实测端到端证据。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Wang et al. (2026). Energy-efficient reconfigurable FPGA accelerator for marine convolutional neural network-long short-term memory applications. Intelligent Marine Technology and Systems 4:9. DOI:10.1007/s44295-026-00098-3；全文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讲解提示：研究是可配置FPGA架构与映射的探索。汇报的主要结论为统一异构计算、混合精度与可变数据流具有潜力，但性能比较和复现仍需澄清。</a:t>
            </a:r>
            <a:endParaRPr/>
          </a:p>
          <a:p>
            <a:r>
              <a:rPr/>
              <a:t>EVIDENCE_MANIFEST: {"materials": {"papers": [{"id": "wang2026",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.xml" Id="R42f6f6e0deef48f7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2.xml" Id="R42f6f6e0deef48f7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3.xml" Id="R42f6f6e0deef48f7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4.xml" Id="R42f6f6e0deef48f7" /><Relationship Id="evidenceImage1" Type="http://schemas.openxmlformats.org/officeDocument/2006/relationships/image" Target="/ppt/media/evidence_1.png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5.xml" Id="R42f6f6e0deef48f7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6.xml" Id="R42f6f6e0deef48f7" /><Relationship Id="evidenceImage2" Type="http://schemas.openxmlformats.org/officeDocument/2006/relationships/image" Target="/ppt/media/evidence_2.png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7.xml" Id="R42f6f6e0deef48f7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8.xml" Id="R42f6f6e0deef48f7" /><Relationship Id="evidenceImage3" Type="http://schemas.openxmlformats.org/officeDocument/2006/relationships/image" Target="/ppt/media/evidence_3.png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9.xml" Id="R42f6f6e0deef48f7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0.xml" Id="R42f6f6e0deef48f7" /><Relationship Id="evidenceImage4" Type="http://schemas.openxmlformats.org/officeDocument/2006/relationships/image" Target="/ppt/media/evidence_4.png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1.xml" Id="R42f6f6e0deef48f7" /><Relationship Id="evidenceImage5" Type="http://schemas.openxmlformats.org/officeDocument/2006/relationships/image" Target="/ppt/media/evidence_5.png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2.xml" Id="R42f6f6e0deef48f7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3.xml" Id="R42f6f6e0deef48f7" /><Relationship Id="evidenceImage6" Type="http://schemas.openxmlformats.org/officeDocument/2006/relationships/image" Target="/ppt/media/evidence_6.png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4.xml" Id="R42f6f6e0deef48f7" /><Relationship Id="evidenceImage7" Type="http://schemas.openxmlformats.org/officeDocument/2006/relationships/image" Target="/ppt/media/evidence_7.png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5.xml" Id="R42f6f6e0deef48f7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6.xml" Id="R42f6f6e0deef48f7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7.xml" Id="R42f6f6e0deef48f7" 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面向海洋时空模型的可重构 FPGA 加速器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学术分享 · 研究论文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275"/>
          </a:p>
        </p:txBody>
      </p:sp>
      <p:sp>
        <p:nvSpPr>
          <p:cNvPr id="20" name="text-20"/>
          <p:cNvSpPr txBox="1"/>
          <p:nvPr/>
        </p:nvSpPr>
        <p:spPr>
          <a:xfrm>
            <a:off x="514350" y="1752600"/>
            <a:ext cx="11144250" cy="619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550" b="1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让卷积、循环与逐元素运算共享计算资源</a:t>
            </a:r>
            <a:endParaRPr lang="zh-CN" sz="2550"/>
          </a:p>
        </p:txBody>
      </p:sp>
      <p:sp>
        <p:nvSpPr>
          <p:cNvPr id="21" name="text-21"/>
          <p:cNvSpPr txBox="1"/>
          <p:nvPr/>
        </p:nvSpPr>
        <p:spPr>
          <a:xfrm>
            <a:off x="514350" y="2724150"/>
            <a:ext cx="1114425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100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Energy-efficient reconfigurable FPGA accelerator for marine</a:t>
            </a:r>
            <a:endParaRPr lang="zh-CN" sz="2100"/>
          </a:p>
          <a:p>
            <a:pPr algn="l">
              <a:lnSpc>
                <a:spcPct val="125000"/>
              </a:lnSpc>
            </a:pPr>
            <a:r>
              <a:rPr lang="zh-CN" sz="2100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convolutional neural network-long short-term memory applications</a:t>
            </a:r>
            <a:endParaRPr lang="zh-CN" sz="2100"/>
          </a:p>
        </p:txBody>
      </p:sp>
      <p:sp>
        <p:nvSpPr>
          <p:cNvPr id="22" name="text-22"/>
          <p:cNvSpPr txBox="1"/>
          <p:nvPr/>
        </p:nvSpPr>
        <p:spPr>
          <a:xfrm>
            <a:off x="514350" y="3990975"/>
            <a:ext cx="11144250" cy="809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Qiuyu Wang · Qi Wen · Zhiqiang Wei · Haiyang Mao</a:t>
            </a:r>
            <a:endParaRPr lang="zh-CN" sz="1875"/>
          </a:p>
          <a:p>
            <a:pPr algn="l">
              <a:lnSpc>
                <a:spcPct val="125000"/>
              </a:lnSpc>
            </a:pPr>
            <a:r>
              <a:rPr lang="zh-CN" sz="18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Ruitao Tao · Hao Zhang</a:t>
            </a:r>
            <a:endParaRPr lang="zh-CN" sz="1875"/>
          </a:p>
        </p:txBody>
      </p:sp>
      <p:sp>
        <p:nvSpPr>
          <p:cNvPr id="23" name="text-23"/>
          <p:cNvSpPr txBox="1"/>
          <p:nvPr/>
        </p:nvSpPr>
        <p:spPr>
          <a:xfrm>
            <a:off x="514350" y="5191125"/>
            <a:ext cx="1114425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Intelligent Marine Technology and Systems · 4:9 · 2026</a:t>
            </a:r>
            <a:endParaRPr lang="zh-CN" sz="1800"/>
          </a:p>
        </p:txBody>
      </p:sp>
      <p:sp>
        <p:nvSpPr>
          <p:cNvPr id="24" name="text-24"/>
          <p:cNvSpPr txBox="1"/>
          <p:nvPr/>
        </p:nvSpPr>
        <p:spPr>
          <a:xfrm>
            <a:off x="514350" y="5724525"/>
            <a:ext cx="111442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DOI 10.1007/s44295-026-00098-3</a:t>
            </a:r>
            <a:endParaRPr lang="zh-CN" sz="1650"/>
          </a:p>
        </p:txBody>
      </p:sp>
    </p:spTree>
    <p:extLst>
      <p:ext uri="{BB962C8B-B14F-4D97-AF65-F5344CB8AC3E}">
        <ns2:creationId val="711463199"/>
      </p:ext>
    </p:extLst>
  </p:cSld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研究问题来自海洋边缘设备的资源约束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01 / 背景与贡献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应用需求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海表温度等数据具有时空关联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通信链路与设备能量受限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希望在观测终端就地推理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硬件矛盾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CNN 强调空间卷积与数据复用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LSTM 包含时序依赖与门控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单一计算阵列容易利用不足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本文方案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异构 PE / SPE / EW 计算阵列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可配置数据流与整数精度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用统一指令组织异构计算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串联 CNN–LSTM 与 ConvLSTM 需要区分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01 / 模型与工作负载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串联式结构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CNN 先提取每帧空间特征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LSTM 再处理特征时间序列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两阶段连接形成混合模型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ConvLSTM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将门控中的全连接变换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替换成二维卷积操作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空间结构在递归过程中保留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本文实验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使用 ConvLSTM 海温预测模型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不能将其直接等同于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任意 CNN + LSTM 串联网络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统一架构连接计算、存储与指令控制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总体设计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1275"/>
          </a:p>
        </p:txBody>
      </p:sp>
      <p:pic>
        <p:nvPicPr>
          <p:cNvPr id="20" name="evidence-complete-original" descr="{&quot;kind&quot;: &quot;paper_crop&quot;, &quot;provenance&quot;: {&quot;paper_id&quot;: &quot;wang2026&quot;, &quot;figure&quot;: &quot;Fig.3&quot;, &quot;page&quot;: 7, &quot;crop_bbox&quot;: [58, 100, 538, 277], &quot;pdf_sha256&quot;: &quot;ad9ccffe7f1244881c7e0ae65342ca0d813ef961ea0bbdb481fd19838a2e4361&quot;, &quot;png_sha256&quot;: &quot;5064950ba39509863f560081d90337e6d3f076b5836e6a6bceb61d42fa18c0df&quot;, &quot;render_method&quot;: &quot;pdf_clip&quot;, &quot;dpi&quot;: 216, &quot;verified_complete&quot;: true}, &quot;sha256&quot;: &quot;5064950ba39509863f560081d90337e6d3f076b5836e6a6bceb61d42fa18c0df&quot;}"/>
          <p:cNvPicPr>
            <a:picLocks noChangeAspect="1"/>
          </p:cNvPicPr>
          <p:nvPr/>
        </p:nvPicPr>
        <p:blipFill>
          <a:blip r:embed="evidenceImage1"/>
          <a:stretch>
            <a:fillRect/>
          </a:stretch>
        </p:blipFill>
        <p:spPr>
          <a:xfrm>
            <a:off x="839492" y="1504950"/>
            <a:ext cx="10513017" cy="3876675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5505450"/>
            <a:ext cx="115824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Fig.3  统一架构连接计算、存储与指令控制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304800" y="5876925"/>
            <a:ext cx="11582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来源：Wang et al. (2026), Fig.3, p.7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三类处理单元承担互补的运算任务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计算阵列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PE：乘加基础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完成核心 MAC 运算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多方向输入与输出路由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支持卷积及部分矩阵运算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SPE：可配置单元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在 PE 类与 EW 类模式间切换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参与卷积或门控等计算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使资源随工作阶段重新分配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EW：逐元素计算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支持 ReLU、Sigmoid、tanh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处理门控乘法与状态更新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用本地寄存器和 RAM 缓存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PE 的多路选择器与路由支持模式切换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处理单元原图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lang="zh-CN" sz="1275"/>
          </a:p>
        </p:txBody>
      </p:sp>
      <p:pic>
        <p:nvPicPr>
          <p:cNvPr id="20" name="evidence-complete-original" descr="{&quot;kind&quot;: &quot;paper_crop&quot;, &quot;provenance&quot;: {&quot;paper_id&quot;: &quot;wang2026&quot;, &quot;figure&quot;: &quot;Fig.4&quot;, &quot;page&quot;: 7, &quot;crop_bbox&quot;: [58, 462, 538, 687], &quot;pdf_sha256&quot;: &quot;ad9ccffe7f1244881c7e0ae65342ca0d813ef961ea0bbdb481fd19838a2e4361&quot;, &quot;png_sha256&quot;: &quot;abf1294aa452585698a91c08803801c190fbbc1607929ec0e0df737f6547892e&quot;, &quot;render_method&quot;: &quot;pdf_clip&quot;, &quot;dpi&quot;: 216, &quot;verified_complete&quot;: true}, &quot;sha256&quot;: &quot;abf1294aa452585698a91c08803801c190fbbc1607929ec0e0df737f6547892e&quot;}"/>
          <p:cNvPicPr>
            <a:picLocks noChangeAspect="1"/>
          </p:cNvPicPr>
          <p:nvPr/>
        </p:nvPicPr>
        <p:blipFill>
          <a:blip r:embed="evidenceImage2"/>
          <a:stretch>
            <a:fillRect/>
          </a:stretch>
        </p:blipFill>
        <p:spPr>
          <a:xfrm>
            <a:off x="1960880" y="1504950"/>
            <a:ext cx="8270240" cy="3876675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5505450"/>
            <a:ext cx="115824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Fig.4  PE 的多路选择器与路由支持模式切换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304800" y="5876925"/>
            <a:ext cx="11582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来源：Wang et al. (2026), Fig.4, p.7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数据流选择围绕不同的数据复用机会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WS、OS 与 RS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OS：输出驻留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部分和保存在本地累加寄存器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减少输出结果的反复搬运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适合输出通道累加密集的卷积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WS：权重驻留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权重预加载至 PE 寄存器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输入激活流经阵列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适合跨时间步反复使用的权重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RS：行驻留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缓存连续输入特征行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复用输入、卷积核与部分和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利用二维卷积的空间局部性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低位宽乘法器通过级联支持多精度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混合精度原图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lang="zh-CN" sz="1275"/>
          </a:p>
        </p:txBody>
      </p:sp>
      <p:pic>
        <p:nvPicPr>
          <p:cNvPr id="20" name="evidence-complete-original" descr="{&quot;kind&quot;: &quot;paper_crop&quot;, &quot;provenance&quot;: {&quot;paper_id&quot;: &quot;wang2026&quot;, &quot;figure&quot;: &quot;Fig.7&quot;, &quot;page&quot;: 10, &quot;crop_bbox&quot;: [58, 520, 290, 677], &quot;pdf_sha256&quot;: &quot;ad9ccffe7f1244881c7e0ae65342ca0d813ef961ea0bbdb481fd19838a2e4361&quot;, &quot;png_sha256&quot;: &quot;5bcb063871677219fb7acf5994f5aa9fac5244ba53d918c18cf2585405dd3abe&quot;, &quot;render_method&quot;: &quot;pdf_clip&quot;, &quot;dpi&quot;: 216, &quot;verified_complete&quot;: true}, &quot;sha256&quot;: &quot;5bcb063871677219fb7acf5994f5aa9fac5244ba53d918c18cf2585405dd3abe&quot;}"/>
          <p:cNvPicPr>
            <a:picLocks noChangeAspect="1"/>
          </p:cNvPicPr>
          <p:nvPr/>
        </p:nvPicPr>
        <p:blipFill>
          <a:blip r:embed="evidenceImage3"/>
          <a:stretch>
            <a:fillRect/>
          </a:stretch>
        </p:blipFill>
        <p:spPr>
          <a:xfrm>
            <a:off x="3231705" y="1504950"/>
            <a:ext cx="5728590" cy="3876675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5505450"/>
            <a:ext cx="115824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Fig.7  低位宽乘法器通过级联支持多精度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304800" y="5876925"/>
            <a:ext cx="11582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来源：Wang et al. (2026), Fig.7, p.10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三层存储减少反复访问片外数据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存储与控制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片外存储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保存输入、权重与中间结果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容量大但访问代价较高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由 DMA 组织块数据传输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片上缓存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保存当前计算所需数据块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FIFO 向阵列持续供数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结合层参数选择数据流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本地寄存器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保存权重、状态及临时结果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尽量在处理单元内部复用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降低片外带宽压力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64 位指令编码层类型与运行配置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指令驱动控制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lang="zh-CN" sz="1275"/>
          </a:p>
        </p:txBody>
      </p:sp>
      <p:pic>
        <p:nvPicPr>
          <p:cNvPr id="20" name="evidence-complete-original" descr="{&quot;kind&quot;: &quot;paper_crop&quot;, &quot;provenance&quot;: {&quot;paper_id&quot;: &quot;wang2026&quot;, &quot;figure&quot;: &quot;Fig.8&quot;, &quot;page&quot;: 11, &quot;crop_bbox&quot;: [58, 635, 539, 698], &quot;pdf_sha256&quot;: &quot;ad9ccffe7f1244881c7e0ae65342ca0d813ef961ea0bbdb481fd19838a2e4361&quot;, &quot;png_sha256&quot;: &quot;1b1a376081d9f8fca89d73e221af0b766515e43efb74a74f7cb8f411126b4258&quot;, &quot;render_method&quot;: &quot;pdf_clip&quot;, &quot;dpi&quot;: 216, &quot;verified_complete&quot;: true}, &quot;sha256&quot;: &quot;1b1a376081d9f8fca89d73e221af0b766515e43efb74a74f7cb8f411126b4258&quot;}"/>
          <p:cNvPicPr>
            <a:picLocks noChangeAspect="1"/>
          </p:cNvPicPr>
          <p:nvPr/>
        </p:nvPicPr>
        <p:blipFill>
          <a:blip r:embed="evidenceImage4"/>
          <a:stretch>
            <a:fillRect/>
          </a:stretch>
        </p:blipFill>
        <p:spPr>
          <a:xfrm>
            <a:off x="304800" y="2684773"/>
            <a:ext cx="11582400" cy="1517030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5505450"/>
            <a:ext cx="115824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Fig.8  64 位指令编码层类型与运行配置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304800" y="5876925"/>
            <a:ext cx="11582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来源：Wang et al. (2026), Fig.8, p.11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1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验证模型以两层 ConvLSTM 进行海温预测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模型与实验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lang="zh-CN" sz="1275"/>
          </a:p>
        </p:txBody>
      </p:sp>
      <p:pic>
        <p:nvPicPr>
          <p:cNvPr id="20" name="evidence-complete-original" descr="{&quot;kind&quot;: &quot;paper_crop&quot;, &quot;provenance&quot;: {&quot;paper_id&quot;: &quot;wang2026&quot;, &quot;figure&quot;: &quot;Table4&quot;, &quot;page&quot;: 13, &quot;crop_bbox&quot;: [54, 83, 295, 226], &quot;pdf_sha256&quot;: &quot;ad9ccffe7f1244881c7e0ae65342ca0d813ef961ea0bbdb481fd19838a2e4361&quot;, &quot;png_sha256&quot;: &quot;e2379c441e502027e8c0e7119f3bb577b4a841911bd5a92d9de7f7d9b17867df&quot;, &quot;render_method&quot;: &quot;pdf_clip&quot;, &quot;dpi&quot;: 216, &quot;verified_complete&quot;: true}, &quot;sha256&quot;: &quot;e2379c441e502027e8c0e7119f3bb577b4a841911bd5a92d9de7f7d9b17867df&quot;}"/>
          <p:cNvPicPr>
            <a:picLocks noChangeAspect="1"/>
          </p:cNvPicPr>
          <p:nvPr/>
        </p:nvPicPr>
        <p:blipFill>
          <a:blip r:embed="evidenceImage5"/>
          <a:stretch>
            <a:fillRect/>
          </a:stretch>
        </p:blipFill>
        <p:spPr>
          <a:xfrm>
            <a:off x="2829291" y="1504950"/>
            <a:ext cx="6533417" cy="3876675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5505450"/>
            <a:ext cx="115824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Table4  验证模型以两层 ConvLSTM 进行海温预测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304800" y="5876925"/>
            <a:ext cx="11582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来源：Wang et al. (2026), Table4, p.13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实验平台与主要报告结果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硬件实现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实现条件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Xilinx ZCU102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Vivado 2023.2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实现后时序分析：200 MHz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作者报告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吞吐率：18.5 GOPS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功耗：1.2 W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能效：15.4 GOPS/W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资源占用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LUT：53,113（19.3%）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FF：107,328（19.5%）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DSP：834（33.0%）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BRAM：322（17.6%）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混合模型比较显示低功耗与更高 DSP 使用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性能比较原表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lang="zh-CN" sz="1275"/>
          </a:p>
        </p:txBody>
      </p:sp>
      <p:pic>
        <p:nvPicPr>
          <p:cNvPr id="20" name="evidence-complete-original" descr="{&quot;kind&quot;: &quot;paper_crop&quot;, &quot;provenance&quot;: {&quot;paper_id&quot;: &quot;wang2026&quot;, &quot;figure&quot;: &quot;Table6&quot;, &quot;page&quot;: 14, &quot;crop_bbox&quot;: [54, 83, 542, 217], &quot;pdf_sha256&quot;: &quot;ad9ccffe7f1244881c7e0ae65342ca0d813ef961ea0bbdb481fd19838a2e4361&quot;, &quot;png_sha256&quot;: &quot;f23a22ea5a168f590ecdc37d68f9693c8b3cdf7e895635777f64e4e318ec790f&quot;, &quot;render_method&quot;: &quot;pdf_clip&quot;, &quot;dpi&quot;: 216, &quot;verified_complete&quot;: true}, &quot;sha256&quot;: &quot;f23a22ea5a168f590ecdc37d68f9693c8b3cdf7e895635777f64e4e318ec790f&quot;}"/>
          <p:cNvPicPr>
            <a:picLocks noChangeAspect="1"/>
          </p:cNvPicPr>
          <p:nvPr/>
        </p:nvPicPr>
        <p:blipFill>
          <a:blip r:embed="evidenceImage6"/>
          <a:stretch>
            <a:fillRect/>
          </a:stretch>
        </p:blipFill>
        <p:spPr>
          <a:xfrm>
            <a:off x="304800" y="1853081"/>
            <a:ext cx="11582400" cy="3180413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5505450"/>
            <a:ext cx="115824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Table6  混合模型比较显示低功耗与更高 DSP 使用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304800" y="5876925"/>
            <a:ext cx="11582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来源：Wang et al. (2026), Table6, p.14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1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LSTM 与 CNN 的结果需要按任务分别读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性能与精度原表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lang="zh-CN" sz="1275"/>
          </a:p>
        </p:txBody>
      </p:sp>
      <p:pic>
        <p:nvPicPr>
          <p:cNvPr id="20" name="evidence-complete-original" descr="{&quot;kind&quot;: &quot;paper_crop&quot;, &quot;provenance&quot;: {&quot;paper_id&quot;: &quot;wang2026&quot;, &quot;figure&quot;: &quot;Tables7-8&quot;, &quot;page&quot;: 14, &quot;crop_bbox&quot;: [54, 233, 542, 494], &quot;pdf_sha256&quot;: &quot;ad9ccffe7f1244881c7e0ae65342ca0d813ef961ea0bbdb481fd19838a2e4361&quot;, &quot;png_sha256&quot;: &quot;dac7f00adb7118da5856fb8d0cb548de31ab5eb203d58494f562f77ba46d89f2&quot;, &quot;render_method&quot;: &quot;pdf_clip&quot;, &quot;dpi&quot;: 216, &quot;verified_complete&quot;: true}, &quot;sha256&quot;: &quot;dac7f00adb7118da5856fb8d0cb548de31ab5eb203d58494f562f77ba46d89f2&quot;}"/>
          <p:cNvPicPr>
            <a:picLocks noChangeAspect="1"/>
          </p:cNvPicPr>
          <p:nvPr/>
        </p:nvPicPr>
        <p:blipFill>
          <a:blip r:embed="evidenceImage7"/>
          <a:stretch>
            <a:fillRect/>
          </a:stretch>
        </p:blipFill>
        <p:spPr>
          <a:xfrm>
            <a:off x="2471829" y="1504950"/>
            <a:ext cx="7248343" cy="3876675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5505450"/>
            <a:ext cx="115824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Tables7-8  LSTM 与 CNN 的结果需要按任务分别读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304800" y="5876925"/>
            <a:ext cx="115824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来源：Wang et al. (2026), Tables7-8, p.14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两处结果定义影响性能结论的可信度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04 / 局限与核查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时延口径不一致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Table6 与结论：415 ms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Table7 / Table8：0.415 ms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相差 1000 倍，需要作者澄清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精度指标不清晰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32 / 16 位：98.9% / 79.5%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未清楚定义 Accuracy 的计算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不等同于明确的 SST 误差指标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比较与消融不足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器件、模型与精度条件不统一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缺少各模块独立贡献的消融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尚需端到端功耗与切换开销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本文提供了可复用的硬件协同设计思路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04 / 总结与研究启发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核心贡献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用统一阵列承载异构工作负载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将精度、数据流和存储联动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强调海洋边缘设备的能耗约束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下一步验证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固定同一模型与数据集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对比固定 / 自适应数据流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分别测量精度、能耗和总时延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1714500"/>
            <a:ext cx="3695700" cy="3619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194310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讨论问题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486025"/>
            <a:ext cx="3276600" cy="2724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精度下降与能耗下降如何权衡？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切换与存储开销会抵消收益吗？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在真实观测设备上是否可持续？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7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文献信息与汇报结论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参考与结束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Wang et al. · IMTS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17</a:t>
            </a:r>
            <a:endParaRPr lang="zh-CN" sz="1275"/>
          </a:p>
        </p:txBody>
      </p:sp>
      <p:sp>
        <p:nvSpPr>
          <p:cNvPr id="20" name="text-20"/>
          <p:cNvSpPr txBox="1"/>
          <p:nvPr/>
        </p:nvSpPr>
        <p:spPr>
          <a:xfrm>
            <a:off x="304800" y="1743075"/>
            <a:ext cx="11582400" cy="5238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Wang, Q., Wen, Q., Wei, Z., Mao, H., Tao, R., &amp; Zhang, H. (2026).</a:t>
            </a:r>
            <a:endParaRPr lang="zh-CN" sz="1875"/>
          </a:p>
        </p:txBody>
      </p:sp>
      <p:sp>
        <p:nvSpPr>
          <p:cNvPr id="21" name="text-21"/>
          <p:cNvSpPr txBox="1"/>
          <p:nvPr/>
        </p:nvSpPr>
        <p:spPr>
          <a:xfrm>
            <a:off x="304800" y="2476500"/>
            <a:ext cx="115824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Energy-efficient reconfigurable FPGA accelerator for marine</a:t>
            </a:r>
            <a:endParaRPr lang="zh-CN" sz="2025"/>
          </a:p>
          <a:p>
            <a:pPr algn="l">
              <a:lnSpc>
                <a:spcPct val="125000"/>
              </a:lnSpc>
            </a:pPr>
            <a:r>
              <a:rPr lang="zh-CN" sz="20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convolutional neural network-long short-term memory applications.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304800" y="3733800"/>
            <a:ext cx="11582400" cy="857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Intelligent Marine Technology and Systems, 4:9.</a:t>
            </a:r>
            <a:endParaRPr lang="zh-CN" sz="1875"/>
          </a:p>
          <a:p>
            <a:pPr algn="l">
              <a:lnSpc>
                <a:spcPct val="125000"/>
              </a:lnSpc>
            </a:pPr>
            <a:r>
              <a:rPr lang="zh-CN" sz="18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DOI: 10.1007/s44295-026-00098-3</a:t>
            </a:r>
            <a:endParaRPr lang="zh-CN" sz="1875"/>
          </a:p>
        </p:txBody>
      </p:sp>
      <p:sp>
        <p:nvSpPr>
          <p:cNvPr id="23" name="text-23"/>
          <p:cNvSpPr txBox="1"/>
          <p:nvPr/>
        </p:nvSpPr>
        <p:spPr>
          <a:xfrm>
            <a:off x="304800" y="5143500"/>
            <a:ext cx="115824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原图与原表：所上传论文；仅裁去外围正文与空白，未改绘结果。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17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