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  <p:sldId id="270" r:id="researchSlide15"/>
    <p:sldId id="271" r:id="researchSlide16"/>
    <p:sldId id="272" r:id="researchSlide17"/>
    <p:sldId id="273" r:id="researchSlide18"/>
    <p:sldId id="274" r:id="researchSlide19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Relationship Id="researchSlide15" Type="http://schemas.openxmlformats.org/officeDocument/2006/relationships/slide" Target="/ppt/slides/slide15.xml" /><Relationship Id="researchSlide16" Type="http://schemas.openxmlformats.org/officeDocument/2006/relationships/slide" Target="/ppt/slides/slide16.xml" /><Relationship Id="researchSlide17" Type="http://schemas.openxmlformats.org/officeDocument/2006/relationships/slide" Target="/ppt/slides/slide17.xml" /><Relationship Id="researchSlide18" Type="http://schemas.openxmlformats.org/officeDocument/2006/relationships/slide" Target="/ppt/slides/slide18.xml" /><Relationship Id="researchSlide19" Type="http://schemas.openxmlformats.org/officeDocument/2006/relationships/slide" Target="/ppt/slides/slide19.xml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6e48b80e4b834772" /><Relationship Type="http://schemas.openxmlformats.org/officeDocument/2006/relationships/notesMaster" Target="/ppt/notesMasters/notesMaster1.xml" Id="R6ea7d8a4598a4ea0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6e48b80e4b834772" /><Relationship Type="http://schemas.openxmlformats.org/officeDocument/2006/relationships/notesMaster" Target="/ppt/notesMasters/notesMaster1.xml" Id="R6ea7d8a4598a4ea0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6e48b80e4b834772" /><Relationship Type="http://schemas.openxmlformats.org/officeDocument/2006/relationships/notesMaster" Target="/ppt/notesMasters/notesMaster1.xml" Id="R6ea7d8a4598a4ea0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6e48b80e4b834772" /><Relationship Type="http://schemas.openxmlformats.org/officeDocument/2006/relationships/notesMaster" Target="/ppt/notesMasters/notesMaster1.xml" Id="R6ea7d8a4598a4ea0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6e48b80e4b834772" /><Relationship Type="http://schemas.openxmlformats.org/officeDocument/2006/relationships/notesMaster" Target="/ppt/notesMasters/notesMaster1.xml" Id="R6ea7d8a4598a4ea0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6e48b80e4b834772" /><Relationship Type="http://schemas.openxmlformats.org/officeDocument/2006/relationships/notesMaster" Target="/ppt/notesMasters/notesMaster1.xml" Id="R6ea7d8a4598a4ea0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6e48b80e4b834772" /><Relationship Type="http://schemas.openxmlformats.org/officeDocument/2006/relationships/notesMaster" Target="/ppt/notesMasters/notesMaster1.xml" Id="R6ea7d8a4598a4ea0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6e48b80e4b834772" /><Relationship Type="http://schemas.openxmlformats.org/officeDocument/2006/relationships/notesMaster" Target="/ppt/notesMasters/notesMaster1.xml" Id="R6ea7d8a4598a4ea0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6e48b80e4b834772" /><Relationship Type="http://schemas.openxmlformats.org/officeDocument/2006/relationships/notesMaster" Target="/ppt/notesMasters/notesMaster1.xml" Id="R6ea7d8a4598a4ea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6e48b80e4b834772" /><Relationship Type="http://schemas.openxmlformats.org/officeDocument/2006/relationships/notesMaster" Target="/ppt/notesMasters/notesMaster1.xml" Id="R6ea7d8a4598a4ea0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6e48b80e4b834772" /><Relationship Type="http://schemas.openxmlformats.org/officeDocument/2006/relationships/notesMaster" Target="/ppt/notesMasters/notesMaster1.xml" Id="R6ea7d8a4598a4ea0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6e48b80e4b834772" /><Relationship Type="http://schemas.openxmlformats.org/officeDocument/2006/relationships/notesMaster" Target="/ppt/notesMasters/notesMaster1.xml" Id="R6ea7d8a4598a4ea0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6e48b80e4b834772" /><Relationship Type="http://schemas.openxmlformats.org/officeDocument/2006/relationships/notesMaster" Target="/ppt/notesMasters/notesMaster1.xml" Id="R6ea7d8a4598a4ea0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/ppt/slides/slide15.xml" Id="R6e48b80e4b834772" /><Relationship Type="http://schemas.openxmlformats.org/officeDocument/2006/relationships/notesMaster" Target="/ppt/notesMasters/notesMaster1.xml" Id="R6ea7d8a4598a4ea0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/ppt/slides/slide16.xml" Id="R6e48b80e4b834772" /><Relationship Type="http://schemas.openxmlformats.org/officeDocument/2006/relationships/notesMaster" Target="/ppt/notesMasters/notesMaster1.xml" Id="R6ea7d8a4598a4ea0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/ppt/slides/slide17.xml" Id="R6e48b80e4b834772" /><Relationship Type="http://schemas.openxmlformats.org/officeDocument/2006/relationships/notesMaster" Target="/ppt/notesMasters/notesMaster1.xml" Id="R6ea7d8a4598a4ea0" 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/ppt/slides/slide18.xml" Id="R6e48b80e4b834772" /><Relationship Type="http://schemas.openxmlformats.org/officeDocument/2006/relationships/notesMaster" Target="/ppt/notesMasters/notesMaster1.xml" Id="R6ea7d8a4598a4ea0" 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/ppt/slides/slide19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https://doi.org/10.1016/j.ocemod.2026.102678；摘要、§1、§4，PDF pp.1–2, 10。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讲解提示：先说明本文是综述，不是一套新算法的实验论文。它讨论的是机器学习在海洋数据同化流程中的位置、局限与业务化路径，文献覆盖2020–2025年。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https://doi.org/10.1016/j.ocemod.2026.102678；摘要、§1、§3.2、§4，PDF pp.1–2, 7–8, 10。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讲解提示：本文覆盖2020–2025年的研究，以四类科学问题组织综述，再结合流程位置、海洋空间域和技术成熟度来评价。不要把文中示意分类当作定量荟萃分析，也没有可统一比较的性能排行榜。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https://doi.org/10.1016/j.ocemod.2026.102678；§1，PDF p.2；流程框图为汇报者依据同化概念整理。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讲解提示：背景场是模型提供的先验海洋状态；观测并非完整真值，带有噪声和代表性误差。分析场融合两者，再推进为下一轮背景场。机器学习可以增强单个环节，也可以尝试代理分析步骤。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https://doi.org/10.1016/j.ocemod.2026.102678；Fig.1、§1，PDF pp.2–3。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讲解提示：图中深色框为传统同化组件，浅灰框为可能嵌入的机器学习任务。沿左侧观测预处理、中央分析、右侧预报后处理依次讲解。soft与hard是功能集成方式，不等同于网络复杂度。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[{"kind": "paper_crop", "path": "figures/fig1-complete.png", "caption": "图 1  机器学习在海洋数据同化流程中的介入位置", "source": "来源：Grande et al. (2026), Fig. 1, PDF p.3", "provenance": {"paper_id": "grande2026", "figure": "Fig. 1", "page": 3, "crop_bbox": [100.0, 73.0, 496.0, 383.0], "pdf_sha256": "aefc2aa3dcec41d0084e79d9248845cc662ce8a815f5ea2e18559a9c4494b721", "png_sha256": "7ba7c415f09b55165bc42076dff0bed0163d2030f6d7052ba23d624c71ab4b49", "render_method": "pdf_clip", "dpi": 240,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https://doi.org/10.1016/j.ocemod.2026.102678；§2.1–2.4，PDF pp.4–6。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讲解提示：四类挑战并不是互斥标签：同一方法可能同时改善观测重建与细尺度表示，也可能引入跨域泛化和物理平衡问题。后续按问题展开，不按网络名称堆叠。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https://doi.org/10.1016/j.ocemod.2026.102678；Fig.2、§2，PDF pp.3–4。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讲解提示：原图将应用对应到近岸、海表和深海。海表观测较丰富，适合映射与重建；深层观测稀疏，更依赖物理先验和跨变量关系。此图展示研究位置，不表示所有方法都已在这些区域业务化。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[{"kind": "paper_crop", "path": "figures/fig2-complete.png", "caption": "图 2  近岸、海表与深海的机器学习应用", "source": "来源：Grande et al. (2026), Fig. 2, PDF p.4", "provenance": {"paper_id": "grande2026", "figure": "Fig. 2", "page": 4, "crop_bbox": [100.0, 52.0, 496.0, 222.0], "pdf_sha256": "aefc2aa3dcec41d0084e79d9248845cc662ce8a815f5ea2e18559a9c4494b721", "png_sha256": "ecb73fbf259ebb187a2a42f393c96f9171888b9e080a907f869653dd904273de", "render_method": "pdf_clip", "dpi": 240,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https://doi.org/10.1016/j.ocemod.2026.102678；§2.1，PDF pp.4–5；代表研究为该综述的转述，未单独复现实验。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4DVarNet将变分插值思路与学习结合，处理沿轨与宽刈幅高度计数据。SIMPGEN利用高分辨率模拟与谱约束帮助重建。UNetKF是U-Net辅助的集合卡尔曼滤波方案，本文不同位置对其具体功能表述略有侧重，因此这里只归纳为学习空间关系以辅助分析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https://doi.org/10.1016/j.ocemod.2026.102678；§2.2，PDF p.5。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弱耦合同化通常在耦合预报背景上分别做分析，强耦合同化在分析阶段允许一个分量的观测影响另一分量。DNN-EAKF与MLP可学习非线性增量或跨域关系，但不代表已解决复杂海岸线与真实多变量系统的全部问题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https://doi.org/10.1016/j.ocemod.2026.102678；§2.3、§3.1、§3.3，PDF pp.5–7, 8。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讲解提示：空间RMSE降低不必然证明高波数能量恢复。综述指出NeurOST存在平滑与跨海盆泛化问题；4DVarNet虽改善细尺度恢复，也有跨域表现下降。这里用概念性流程，不重绘论文未提供的性能曲线。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https://doi.org/10.1016/j.ocemod.2026.102678；§2.4、§3.1、§3.4，PDF pp.6–7, 9。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讲解提示：PINN通常通过损失项加入控制方程约束，但软约束不能自动保证精确守恒或长期稳定。物理信息也可进入注意力、表示、算子和误差模型。作者更强调将物理结构融入设计，结合真实系统验证。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https://doi.org/10.1016/j.ocemod.2026.102678；Fig.3、§3.1，PDF pp.6–7。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横轴是问题尺度，纵轴是模型复杂度。这是作者的概念分类图，不是性能比较。CNN在栅格空间关系学习中仍最常见；Transformer、神经算子和生成模型扩展了长程与多尺度表达，但需要另外验证泛化、成本和物理一致性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[{"kind": "paper_crop", "path": "figures/fig3-complete.png", "caption": "图 3  问题尺度与模型复杂度的分类", "source": "来源：Grande et al. (2026), Fig. 3, PDF p.7", "provenance": {"paper_id": "grande2026", "figure": "Fig. 3", "page": 7, "crop_bbox": [100.0, 71.0, 496.0, 351.0], "pdf_sha256": "aefc2aa3dcec41d0084e79d9248845cc662ce8a815f5ea2e18559a9c4494b721", "png_sha256": "acc4777a3fae24b0ac204f8d7fba99b0b1aebfa3c947bbc83970ae6d6d72708f", "render_method": "pdf_clip", "dpi": 240,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https://doi.org/10.1016/j.ocemod.2026.102678；§3.1、§3.3，PDF pp.7, 9；转述Martin et al. (2025)与Chattopadhyay et al. (2024)。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GenDA通过后验分布采样生成可能的海洋状态，能够提供集合输出，但综述指出集合离散度不足，观测落在预测范围外的概率最高可达20%，且相邻日期时间一致性受限。OceanNet约5×10^5倍加速仅是已训练代理单次前向推理与完整动力积分的比较，不包含训练、同化循环和观测算子更新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https://doi.org/10.1016/j.ocemod.2026.102678；Fig.4、§3.2，PDF pp.7–8。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原图呈现理想化实验、OSSE、真实数据和准业务化四级；正文还在最前面列出概念设计，共五阶段。TRL范围是作者领域化压缩改写，并非严格认证。部分模块级研究不按完整系统的阶梯推进，作者明确未将它们全部放进图中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[{"kind": "paper_crop", "path": "figures/fig4-complete.png", "caption": "图 4  从理想实验到业务化的成熟度阶梯", "source": "来源：Grande et al. (2026), Fig. 4, PDF p.8", "provenance": {"paper_id": "grande2026", "figure": "Fig. 4", "page": 8, "crop_bbox": [102.0, 52.0, 497.0, 214.0], "pdf_sha256": "aefc2aa3dcec41d0084e79d9248845cc662ce8a815f5ea2e18559a9c4494b721", "png_sha256": "455a5ab50c7747bd58eed716a519e82417d014cf286543f52a9bf47c37119d4f", "render_method": "pdf_clip", "dpi": 240, "verified_complete": true}}]}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https://doi.org/10.1016/j.ocemod.2026.102678；§3.2，PDF pp.7–8；阶段标签及TRL对应范围依原文。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讲解提示：从概念设计、玩具模型、OSSE、真实数据到准业务化逐步增加真实约束。OSSE拥有已知的nature run，但模拟误差若不真实，技能会被高估。本文称多数工作在TRL2–7，不能将某网络家族整体标成业务化。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https://doi.org/10.1016/j.ocemod.2026.102678；§2.3、§3.3–3.4，PDF pp.5–6, 8–9；具体清单为汇报者建议，非作者统一实验协议。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这一页明确是汇报者整理的评估建议，不是原文执行的统一实验。空间RMSE与偏差用于精度，能谱和约束残差检查动力结构，集合覆盖率和离散度对应概率可靠性；计算成本必须同时报告训练、适配与整个同化周期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https://doi.org/10.1016/j.ocemod.2026.102678；全文，重点§1、§3.2–3.4、§4，PDF pp.2, 7–10；评价为汇报者观点。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优点是将科学挑战、集成位置、空间域和成熟度连起来，而不只是罗列网络。局限是不同研究的数据、基线和验证条件异质，无法从该综述推导统一的优劣排行；成熟度归类是定性的。具体数值需返回原研究检查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https://doi.org/10.1016/j.ocemod.2026.102678；§3.4、§4，PDF pp.9–10；本页为汇报者拟定方案，非原文实验结果。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以现有同化系统为基线，选择一个接口清晰的学习模块，先评估离线精度与适用范围，再验证能谱、物理平衡与不确定性，最后进入在线循环。必须保留回退基线；此处提出可讨论的研究路线，不能写成已验证结论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https://doi.org/10.1016/j.ocemod.2026.102678；摘要、§4，PDF pp.1, 10；讨论问题为汇报者提出。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用三句话收束全文：第一，机器学习的价值是多个可嵌入环节；第二，高分辨率和低误差之外，要守住物理与概率可靠性；第三，业务化最缺的是持续真实验证。最后将讨论聚焦于观测补全后的收益能否穿过分析与预报循环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Grande, D., Buizza, R., &amp; Storto, A. (2026). Machine learning in ocean data assimilation: Advances, gaps and the road to operations. Ocean Modelling, 200, 102678. https://doi.org/10.1016/j.ocemod.2026.102678；本文及参考文献，PDF pp.1, 11–12；延伸研究未单独下载核对。</a:t>
            </a:r>
            <a:endParaRPr/>
          </a:p>
          <a:p>
            <a:r>
              <a:rPr/>
              <a:t>Layout: L16</a:t>
            </a:r>
            <a:endParaRPr/>
          </a:p>
          <a:p>
            <a:r>
              <a:rPr/>
              <a:t>Palette: P6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讲解提示：主文献为Grande等2026年综述。以下列出汇报讨论最多的四篇代表研究，便于继续阅读；关于其方法和性能的表述来自综述转述。完整文献见原PDF，讲解中可按兴趣选择一篇深入。</a:t>
            </a:r>
            <a:endParaRPr/>
          </a:p>
          <a:p>
            <a:r>
              <a:rPr/>
              <a:t>EVIDENCE_MANIFEST: {"materials": {"papers": [{"id": "grande2026", "path": "materials/paper.pdf", "figure_status": "relevant"}]}, "figures": []}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.xml" Id="R42f6f6e0deef48f7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2.xml" Id="R42f6f6e0deef48f7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3.xml" Id="R42f6f6e0deef48f7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4.xml" Id="R42f6f6e0deef48f7" /><Relationship Id="evidenceImage1" Type="http://schemas.openxmlformats.org/officeDocument/2006/relationships/image" Target="/ppt/media/evidence_1.png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5.xml" Id="R42f6f6e0deef48f7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6.xml" Id="R42f6f6e0deef48f7" /><Relationship Id="evidenceImage2" Type="http://schemas.openxmlformats.org/officeDocument/2006/relationships/image" Target="/ppt/media/evidence_2.png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7.xml" Id="R42f6f6e0deef48f7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8.xml" Id="R42f6f6e0deef48f7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9.xml" Id="R42f6f6e0deef48f7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0.xml" Id="R42f6f6e0deef48f7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1.xml" Id="R42f6f6e0deef48f7" /><Relationship Id="evidenceImage3" Type="http://schemas.openxmlformats.org/officeDocument/2006/relationships/image" Target="/ppt/media/evidence_3.png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2.xml" Id="R42f6f6e0deef48f7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3.xml" Id="R42f6f6e0deef48f7" /><Relationship Id="evidenceImage4" Type="http://schemas.openxmlformats.org/officeDocument/2006/relationships/image" Target="/ppt/media/evidence_4.png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4.xml" Id="R42f6f6e0deef48f7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5.xml" Id="R42f6f6e0deef48f7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6.xml" Id="R42f6f6e0deef48f7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7.xml" Id="R42f6f6e0deef48f7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8.xml" Id="R42f6f6e0deef48f7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notesSlide" Target="/ppt/notesSlides/notesSlide19.xml" Id="R42f6f6e0deef48f7" /></Relationships>
</file>

<file path=ppt/slides/slide1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机器学习如何走向海洋数据同化业务化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文献汇报 · Review article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514350" y="1638300"/>
            <a:ext cx="11049000" cy="514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550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从观测重建、物理约束到在线循环验证</a:t>
            </a:r>
            <a:endParaRPr lang="zh-CN" sz="2550"/>
          </a:p>
        </p:txBody>
      </p:sp>
      <p:sp>
        <p:nvSpPr>
          <p:cNvPr id="21" name="text-21"/>
          <p:cNvSpPr txBox="1"/>
          <p:nvPr/>
        </p:nvSpPr>
        <p:spPr>
          <a:xfrm>
            <a:off x="514350" y="2495550"/>
            <a:ext cx="10953750" cy="876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2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Machine learning in ocean data assimilation:</a:t>
            </a:r>
            <a:endParaRPr lang="zh-CN" sz="2250"/>
          </a:p>
          <a:p>
            <a:pPr algn="l">
              <a:lnSpc>
                <a:spcPct val="125000"/>
              </a:lnSpc>
            </a:pPr>
            <a:r>
              <a:rPr lang="zh-CN" sz="22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Advances, gaps and the road to operations</a:t>
            </a:r>
            <a:endParaRPr lang="zh-CN" sz="2250"/>
          </a:p>
        </p:txBody>
      </p:sp>
      <p:sp>
        <p:nvSpPr>
          <p:cNvPr id="22" name="shape-22"/>
          <p:cNvSpPr/>
          <p:nvPr/>
        </p:nvSpPr>
        <p:spPr>
          <a:xfrm>
            <a:off x="514350" y="3695700"/>
            <a:ext cx="952500" cy="47625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23" name="text-23"/>
          <p:cNvSpPr txBox="1"/>
          <p:nvPr/>
        </p:nvSpPr>
        <p:spPr>
          <a:xfrm>
            <a:off x="514350" y="4057650"/>
            <a:ext cx="10953750" cy="4095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Davide Grande · Roberto Buizza · Andrea Storto</a:t>
            </a:r>
            <a:endParaRPr lang="zh-CN" sz="2025"/>
          </a:p>
        </p:txBody>
      </p:sp>
      <p:sp>
        <p:nvSpPr>
          <p:cNvPr id="24" name="text-24"/>
          <p:cNvSpPr txBox="1"/>
          <p:nvPr/>
        </p:nvSpPr>
        <p:spPr>
          <a:xfrm>
            <a:off x="514350" y="4543425"/>
            <a:ext cx="10953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Ocean Modelling 200 (2026) 102678</a:t>
            </a:r>
            <a:endParaRPr lang="zh-CN" sz="1800"/>
          </a:p>
        </p:txBody>
      </p:sp>
      <p:sp>
        <p:nvSpPr>
          <p:cNvPr id="25" name="text-25"/>
          <p:cNvSpPr txBox="1"/>
          <p:nvPr/>
        </p:nvSpPr>
        <p:spPr>
          <a:xfrm>
            <a:off x="514350" y="4981575"/>
            <a:ext cx="1095375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  10.1016/j.ocemod.2026.102678</a:t>
            </a:r>
            <a:endParaRPr lang="zh-CN" sz="1650"/>
          </a:p>
        </p:txBody>
      </p:sp>
      <p:sp>
        <p:nvSpPr>
          <p:cNvPr id="26" name="shape-26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7" name="shape-27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28" name="text-28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核心判断：混合系统的价值，需要在真实、持续的同化循环中证明。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2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本文把“用了什么网络”转向“解决什么问题”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01 / 研究定位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28775"/>
            <a:ext cx="3695700" cy="32194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002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综述对象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621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覆盖范围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05100"/>
            <a:ext cx="3276600" cy="2019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回顾 2020–2025 年研究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聚焦海洋数据同化 ML-ODA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兼顾预处理、分析与预报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4248150" y="1628775"/>
            <a:ext cx="3695700" cy="32194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4457700" y="18002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主要贡献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4457700" y="21621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组织方式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4457700" y="2705100"/>
            <a:ext cx="3276600" cy="2019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四类科学挑战贯穿全文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流程位置 × 海洋空间域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模型复杂度 × 成熟度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8191500" y="1628775"/>
            <a:ext cx="3695700" cy="32194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8401050" y="180022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中心结论</a:t>
            </a:r>
            <a:endParaRPr lang="zh-CN" sz="1275"/>
          </a:p>
        </p:txBody>
      </p:sp>
      <p:sp>
        <p:nvSpPr>
          <p:cNvPr id="30" name="text-30"/>
          <p:cNvSpPr txBox="1"/>
          <p:nvPr/>
        </p:nvSpPr>
        <p:spPr>
          <a:xfrm>
            <a:off x="8401050" y="21621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作者主张</a:t>
            </a:r>
            <a:endParaRPr lang="zh-CN" sz="2025"/>
          </a:p>
        </p:txBody>
      </p:sp>
      <p:sp>
        <p:nvSpPr>
          <p:cNvPr id="31" name="text-31"/>
          <p:cNvSpPr txBox="1"/>
          <p:nvPr/>
        </p:nvSpPr>
        <p:spPr>
          <a:xfrm>
            <a:off x="8401050" y="2705100"/>
            <a:ext cx="3276600" cy="2019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物理知识与学习模型结合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跨海区、跨尺度系统验证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从离线模块进入在线循环</a:t>
            </a:r>
            <a:endParaRPr lang="zh-CN" sz="1725"/>
          </a:p>
        </p:txBody>
      </p:sp>
      <p:sp>
        <p:nvSpPr>
          <p:cNvPr id="32" name="shape-32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3" name="shape-33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4" name="text-34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本次汇报：先理解同化，再讨论四类挑战，最后评估业务化距离。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3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数据同化将观测与动力模型放入循环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01 / 基础概念 · 为后续方法建立共同语言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2124075"/>
            <a:ext cx="369570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23526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背景场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895600"/>
            <a:ext cx="3276600" cy="1257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模型预报的先验状态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同时带有模型误差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4248150" y="2124075"/>
            <a:ext cx="369570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4457700" y="23526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分析场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4457700" y="2895600"/>
            <a:ext cx="3276600" cy="1257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结合观测修正状态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依赖误差与平衡假设</a:t>
            </a:r>
            <a:endParaRPr lang="zh-CN" sz="1725"/>
          </a:p>
        </p:txBody>
      </p:sp>
      <p:sp>
        <p:nvSpPr>
          <p:cNvPr id="26" name="shape-26"/>
          <p:cNvSpPr/>
          <p:nvPr/>
        </p:nvSpPr>
        <p:spPr>
          <a:xfrm>
            <a:off x="8191500" y="2124075"/>
            <a:ext cx="369570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8401050" y="235267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预报场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8401050" y="2895600"/>
            <a:ext cx="3276600" cy="12573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动力模型向前积分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形成下一轮背景场</a:t>
            </a:r>
            <a:endParaRPr lang="zh-CN" sz="1725"/>
          </a:p>
        </p:txBody>
      </p:sp>
      <p:sp>
        <p:nvSpPr>
          <p:cNvPr id="29" name="shape-29"/>
          <p:cNvSpPr/>
          <p:nvPr/>
        </p:nvSpPr>
        <p:spPr>
          <a:xfrm>
            <a:off x="4029075" y="2981325"/>
            <a:ext cx="200025" cy="314325"/>
          </a:xfrm>
          <a:prstGeom prst="rightArrow">
            <a:avLst/>
          </a:prstGeom>
          <a:solidFill>
            <a:srgbClr val="087F9A"/>
          </a:solidFill>
        </p:spPr>
      </p:sp>
      <p:sp>
        <p:nvSpPr>
          <p:cNvPr id="30" name="shape-30"/>
          <p:cNvSpPr/>
          <p:nvPr/>
        </p:nvSpPr>
        <p:spPr>
          <a:xfrm>
            <a:off x="7972425" y="2981325"/>
            <a:ext cx="200025" cy="314325"/>
          </a:xfrm>
          <a:prstGeom prst="rightArrow">
            <a:avLst/>
          </a:prstGeom>
          <a:solidFill>
            <a:srgbClr val="087F9A"/>
          </a:solidFill>
        </p:spPr>
      </p:sp>
      <p:sp>
        <p:nvSpPr>
          <p:cNvPr id="31" name="text-31"/>
          <p:cNvSpPr txBox="1"/>
          <p:nvPr/>
        </p:nvSpPr>
        <p:spPr>
          <a:xfrm>
            <a:off x="4257675" y="1562100"/>
            <a:ext cx="36766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202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多源观测</a:t>
            </a:r>
            <a:endParaRPr lang="zh-CN" sz="2025"/>
          </a:p>
        </p:txBody>
      </p:sp>
      <p:sp>
        <p:nvSpPr>
          <p:cNvPr id="32" name="shape-32"/>
          <p:cNvSpPr/>
          <p:nvPr/>
        </p:nvSpPr>
        <p:spPr>
          <a:xfrm>
            <a:off x="5981700" y="1914525"/>
            <a:ext cx="228600" cy="161925"/>
          </a:xfrm>
          <a:prstGeom prst="downArrow">
            <a:avLst/>
          </a:prstGeom>
          <a:solidFill>
            <a:srgbClr val="D15B55"/>
          </a:solidFill>
        </p:spPr>
      </p:sp>
      <p:sp>
        <p:nvSpPr>
          <p:cNvPr id="33" name="text-33"/>
          <p:cNvSpPr txBox="1"/>
          <p:nvPr/>
        </p:nvSpPr>
        <p:spPr>
          <a:xfrm>
            <a:off x="1619250" y="4714875"/>
            <a:ext cx="8953500" cy="4381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21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循环更新：新的观测到来后，再进行分析与预报</a:t>
            </a:r>
            <a:endParaRPr lang="zh-CN" sz="2100"/>
          </a:p>
        </p:txBody>
      </p:sp>
      <p:sp>
        <p:nvSpPr>
          <p:cNvPr id="34" name="text-34"/>
          <p:cNvSpPr txBox="1"/>
          <p:nvPr/>
        </p:nvSpPr>
        <p:spPr>
          <a:xfrm>
            <a:off x="666750" y="5295900"/>
            <a:ext cx="108585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5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ODA：海洋数据同化    SSH：海面高度    SST：海表温度    SSS：海表盐度</a:t>
            </a:r>
            <a:endParaRPr lang="zh-CN" sz="1575"/>
          </a:p>
        </p:txBody>
      </p:sp>
    </p:spTree>
    <p:extLst>
      <p:ext uri="{BB962C8B-B14F-4D97-AF65-F5344CB8AC3E}">
        <ns2:creationId val="711463199"/>
      </p:ext>
    </p:extLst>
  </p:cSld>
</p:sld>
</file>

<file path=ppt/slides/slide4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机器学习可以介入同化流程的多个环节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01 / 论文原图 · Fig. 1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275"/>
          </a:p>
        </p:txBody>
      </p:sp>
      <p:pic>
        <p:nvPicPr>
          <p:cNvPr id="20" name="evidence-complete-fig-1" descr="{&quot;kind&quot;: &quot;paper_crop&quot;, &quot;provenance&quot;: {&quot;paper_id&quot;: &quot;grande2026&quot;, &quot;figure&quot;: &quot;Fig. 1&quot;, &quot;page&quot;: 3, &quot;crop_bbox&quot;: [100.0, 73.0, 496.0, 383.0], &quot;pdf_sha256&quot;: &quot;aefc2aa3dcec41d0084e79d9248845cc662ce8a815f5ea2e18559a9c4494b721&quot;, &quot;png_sha256&quot;: &quot;7ba7c415f09b55165bc42076dff0bed0163d2030f6d7052ba23d624c71ab4b49&quot;, &quot;render_method&quot;: &quot;pdf_clip&quot;, &quot;dpi&quot;: 240, &quot;verified_complete&quot;: true}, &quot;sha256&quot;: &quot;7ba7c415f09b55165bc42076dff0bed0163d2030f6d7052ba23d624c71ab4b49&quot;}"/>
          <p:cNvPicPr>
            <a:picLocks noChangeAspect="1"/>
          </p:cNvPicPr>
          <p:nvPr/>
        </p:nvPicPr>
        <p:blipFill>
          <a:blip r:embed="evidenceImage1"/>
          <a:stretch>
            <a:fillRect/>
          </a:stretch>
        </p:blipFill>
        <p:spPr>
          <a:xfrm>
            <a:off x="407954" y="1504950"/>
            <a:ext cx="5889693" cy="4610100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6124575"/>
            <a:ext cx="7429500" cy="257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图 1  机器学习在海洋数据同化流程中的介入位置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7553325" y="6124575"/>
            <a:ext cx="42862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来源：Grande et al. (2026), Fig. 1, PDF p.3</a:t>
            </a:r>
            <a:endParaRPr lang="zh-CN" sz="1275"/>
          </a:p>
        </p:txBody>
      </p:sp>
      <p:sp>
        <p:nvSpPr>
          <p:cNvPr id="23" name="text-23"/>
          <p:cNvSpPr txBox="1"/>
          <p:nvPr/>
        </p:nvSpPr>
        <p:spPr>
          <a:xfrm>
            <a:off x="6877050" y="1724025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观测进入前</a:t>
            </a:r>
            <a:endParaRPr lang="zh-CN" sz="1800"/>
          </a:p>
        </p:txBody>
      </p:sp>
      <p:sp>
        <p:nvSpPr>
          <p:cNvPr id="24" name="text-24"/>
          <p:cNvSpPr txBox="1"/>
          <p:nvPr/>
        </p:nvSpPr>
        <p:spPr>
          <a:xfrm>
            <a:off x="6877050" y="2152650"/>
            <a:ext cx="48577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质控、补缺、去噪与多源融合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学习观测算子，连接观测与状态</a:t>
            </a:r>
            <a:endParaRPr lang="zh-CN" sz="1725"/>
          </a:p>
        </p:txBody>
      </p:sp>
      <p:sp>
        <p:nvSpPr>
          <p:cNvPr id="25" name="text-25"/>
          <p:cNvSpPr txBox="1"/>
          <p:nvPr/>
        </p:nvSpPr>
        <p:spPr>
          <a:xfrm>
            <a:off x="6877050" y="3181350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分析步骤中</a:t>
            </a:r>
            <a:endParaRPr lang="zh-CN" sz="1800"/>
          </a:p>
        </p:txBody>
      </p:sp>
      <p:sp>
        <p:nvSpPr>
          <p:cNvPr id="26" name="text-26"/>
          <p:cNvSpPr txBox="1"/>
          <p:nvPr/>
        </p:nvSpPr>
        <p:spPr>
          <a:xfrm>
            <a:off x="6877050" y="3609975"/>
            <a:ext cx="48577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误差协方差、端到端求解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潜空间同化与切线／伴随代理</a:t>
            </a:r>
            <a:endParaRPr lang="zh-CN" sz="1725"/>
          </a:p>
        </p:txBody>
      </p:sp>
      <p:sp>
        <p:nvSpPr>
          <p:cNvPr id="27" name="text-27"/>
          <p:cNvSpPr txBox="1"/>
          <p:nvPr/>
        </p:nvSpPr>
        <p:spPr>
          <a:xfrm>
            <a:off x="6877050" y="4638675"/>
            <a:ext cx="457200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预报之后</a:t>
            </a:r>
            <a:endParaRPr lang="zh-CN" sz="1800"/>
          </a:p>
        </p:txBody>
      </p:sp>
      <p:sp>
        <p:nvSpPr>
          <p:cNvPr id="28" name="text-28"/>
          <p:cNvSpPr txBox="1"/>
          <p:nvPr/>
        </p:nvSpPr>
        <p:spPr>
          <a:xfrm>
            <a:off x="6877050" y="5067300"/>
            <a:ext cx="4857750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偏差订正、概率校准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迁移学习与不确定性量化</a:t>
            </a:r>
            <a:endParaRPr lang="zh-CN" sz="1725"/>
          </a:p>
        </p:txBody>
      </p:sp>
    </p:spTree>
    <p:extLst>
      <p:ext uri="{BB962C8B-B14F-4D97-AF65-F5344CB8AC3E}">
        <ns3:creationId val="711463199"/>
      </p:ext>
    </p:extLst>
  </p:cSld>
</p:sld>
</file>

<file path=ppt/slides/slide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四类挑战连接数据、尺度、边界与物理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四类科学挑战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590675"/>
            <a:ext cx="565785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76212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240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观测整合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667000"/>
            <a:ext cx="52387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稀疏、异步且有噪声的数据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如何与模型状态有效连接？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6229350" y="1590675"/>
            <a:ext cx="565785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6438900" y="176212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6438900" y="21240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近岸—外海与跨域耦合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6438900" y="2667000"/>
            <a:ext cx="52387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地形、观测密度与动力差异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如何在边界两侧保持一致？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304800" y="3876675"/>
            <a:ext cx="565785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514350" y="404812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1275"/>
          </a:p>
        </p:txBody>
      </p:sp>
      <p:sp>
        <p:nvSpPr>
          <p:cNvPr id="30" name="text-30"/>
          <p:cNvSpPr txBox="1"/>
          <p:nvPr/>
        </p:nvSpPr>
        <p:spPr>
          <a:xfrm>
            <a:off x="514350" y="44100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细尺度过程重建</a:t>
            </a:r>
            <a:endParaRPr lang="zh-CN" sz="2025"/>
          </a:p>
        </p:txBody>
      </p:sp>
      <p:sp>
        <p:nvSpPr>
          <p:cNvPr id="31" name="text-31"/>
          <p:cNvSpPr txBox="1"/>
          <p:nvPr/>
        </p:nvSpPr>
        <p:spPr>
          <a:xfrm>
            <a:off x="514350" y="4953000"/>
            <a:ext cx="52387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涡旋、锋面与细丝结构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如何避免被平滑掉？</a:t>
            </a:r>
            <a:endParaRPr lang="zh-CN" sz="1725"/>
          </a:p>
        </p:txBody>
      </p:sp>
      <p:sp>
        <p:nvSpPr>
          <p:cNvPr id="32" name="shape-32"/>
          <p:cNvSpPr/>
          <p:nvPr/>
        </p:nvSpPr>
        <p:spPr>
          <a:xfrm>
            <a:off x="6229350" y="3876675"/>
            <a:ext cx="5657850" cy="2152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33" name="text-33"/>
          <p:cNvSpPr txBox="1"/>
          <p:nvPr/>
        </p:nvSpPr>
        <p:spPr>
          <a:xfrm>
            <a:off x="6438900" y="404812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1275"/>
          </a:p>
        </p:txBody>
      </p:sp>
      <p:sp>
        <p:nvSpPr>
          <p:cNvPr id="34" name="text-34"/>
          <p:cNvSpPr txBox="1"/>
          <p:nvPr/>
        </p:nvSpPr>
        <p:spPr>
          <a:xfrm>
            <a:off x="6438900" y="44100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物理一致性</a:t>
            </a:r>
            <a:endParaRPr lang="zh-CN" sz="2025"/>
          </a:p>
        </p:txBody>
      </p:sp>
      <p:sp>
        <p:nvSpPr>
          <p:cNvPr id="35" name="text-35"/>
          <p:cNvSpPr txBox="1"/>
          <p:nvPr/>
        </p:nvSpPr>
        <p:spPr>
          <a:xfrm>
            <a:off x="6438900" y="4953000"/>
            <a:ext cx="5238750" cy="952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数据拟合的改进能否保留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守恒、平衡和长期稳定性？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6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海区与水深决定方法需要面对的约束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论文原图 · Fig. 2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lang="zh-CN" sz="1275"/>
          </a:p>
        </p:txBody>
      </p:sp>
      <p:pic>
        <p:nvPicPr>
          <p:cNvPr id="20" name="evidence-complete-fig-2" descr="{&quot;kind&quot;: &quot;paper_crop&quot;, &quot;provenance&quot;: {&quot;paper_id&quot;: &quot;grande2026&quot;, &quot;figure&quot;: &quot;Fig. 2&quot;, &quot;page&quot;: 4, &quot;crop_bbox&quot;: [100.0, 52.0, 496.0, 222.0], &quot;pdf_sha256&quot;: &quot;aefc2aa3dcec41d0084e79d9248845cc662ce8a815f5ea2e18559a9c4494b721&quot;, &quot;png_sha256&quot;: &quot;ecb73fbf259ebb187a2a42f393c96f9171888b9e080a907f869653dd904273de&quot;, &quot;render_method&quot;: &quot;pdf_clip&quot;, &quot;dpi&quot;: 240, &quot;verified_complete&quot;: true}, &quot;sha256&quot;: &quot;ecb73fbf259ebb187a2a42f393c96f9171888b9e080a907f869653dd904273de&quot;}"/>
          <p:cNvPicPr>
            <a:picLocks noChangeAspect="1"/>
          </p:cNvPicPr>
          <p:nvPr/>
        </p:nvPicPr>
        <p:blipFill>
          <a:blip r:embed="evidenceImage2"/>
          <a:stretch>
            <a:fillRect/>
          </a:stretch>
        </p:blipFill>
        <p:spPr>
          <a:xfrm>
            <a:off x="2101548" y="1543050"/>
            <a:ext cx="7988905" cy="3429000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476250" y="5057775"/>
            <a:ext cx="1123950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图 2  近岸、海表与深海的机器学习应用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476250" y="5410200"/>
            <a:ext cx="11239500" cy="257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来源：Grande et al. (2026), Fig. 2, PDF p.4</a:t>
            </a:r>
            <a:endParaRPr lang="zh-CN" sz="1275"/>
          </a:p>
        </p:txBody>
      </p:sp>
      <p:sp>
        <p:nvSpPr>
          <p:cNvPr id="23" name="text-23"/>
          <p:cNvSpPr txBox="1"/>
          <p:nvPr/>
        </p:nvSpPr>
        <p:spPr>
          <a:xfrm>
            <a:off x="476250" y="5876925"/>
            <a:ext cx="112395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近岸：复杂地形与边界    ·    海表：卫星空缺与多尺度场    ·    深海：稀疏观测与强物理先验</a:t>
            </a:r>
            <a:endParaRPr lang="zh-CN" sz="1725"/>
          </a:p>
        </p:txBody>
      </p:sp>
    </p:spTree>
    <p:extLst>
      <p:ext uri="{BB962C8B-B14F-4D97-AF65-F5344CB8AC3E}">
        <ns3:creationId val="711463199"/>
      </p:ext>
    </p:extLst>
  </p:cSld>
</p:sld>
</file>

<file path=ppt/slides/slide7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观测整合的进展集中在重建与算子学习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挑战一 · 观测整合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3695700" cy="3238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主要任务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补全与融合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24150"/>
            <a:ext cx="3276600" cy="2038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4DVarNet-SSH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沿轨与 SWOT 高度计插值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部分卷积、GAN、扩散模型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从稀疏输入重建海洋场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4248150" y="1647825"/>
            <a:ext cx="3695700" cy="3238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445770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集成位置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445770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学习空间关系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4457700" y="2724150"/>
            <a:ext cx="3276600" cy="2038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CNN / U-Net 辅助同化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连接观测与模型表示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超分辨率模块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连接粗模型与细观测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8191500" y="1647825"/>
            <a:ext cx="3695700" cy="32385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840105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下一道门槛</a:t>
            </a:r>
            <a:endParaRPr lang="zh-CN" sz="1275"/>
          </a:p>
        </p:txBody>
      </p:sp>
      <p:sp>
        <p:nvSpPr>
          <p:cNvPr id="30" name="text-30"/>
          <p:cNvSpPr txBox="1"/>
          <p:nvPr/>
        </p:nvSpPr>
        <p:spPr>
          <a:xfrm>
            <a:off x="840105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迈向三维与多变量</a:t>
            </a:r>
            <a:endParaRPr lang="zh-CN" sz="2025"/>
          </a:p>
        </p:txBody>
      </p:sp>
      <p:sp>
        <p:nvSpPr>
          <p:cNvPr id="31" name="text-31"/>
          <p:cNvSpPr txBox="1"/>
          <p:nvPr/>
        </p:nvSpPr>
        <p:spPr>
          <a:xfrm>
            <a:off x="8401050" y="2724150"/>
            <a:ext cx="3276600" cy="20383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SST / SSH / SSS 的联合利用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由海表信息推断次表层 T/S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尚需跨海区、跨观测系统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及在线循环验证</a:t>
            </a:r>
            <a:endParaRPr lang="zh-CN" sz="1725"/>
          </a:p>
        </p:txBody>
      </p:sp>
      <p:sp>
        <p:nvSpPr>
          <p:cNvPr id="32" name="shape-32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3" name="shape-33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4" name="text-34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补出完整海洋场只是起点，还需要验证误差、动力一致性与后续预报。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跨域耦合需要学到可信的误差传递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挑战二 · 近岸—外海与跨圈层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5657850" cy="26670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764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弱耦合 WCDA</a:t>
            </a:r>
            <a:endParaRPr lang="zh-CN" sz="2025"/>
          </a:p>
        </p:txBody>
      </p:sp>
      <p:sp>
        <p:nvSpPr>
          <p:cNvPr id="22" name="text-22"/>
          <p:cNvSpPr txBox="1"/>
          <p:nvPr/>
        </p:nvSpPr>
        <p:spPr>
          <a:xfrm>
            <a:off x="514350" y="2419350"/>
            <a:ext cx="5238750" cy="1771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采用耦合模型产生背景场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不同分量分别完成分析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跨分量信息主要通过预报传播</a:t>
            </a:r>
            <a:endParaRPr lang="zh-CN" sz="1725"/>
          </a:p>
        </p:txBody>
      </p:sp>
      <p:sp>
        <p:nvSpPr>
          <p:cNvPr id="23" name="shape-23"/>
          <p:cNvSpPr/>
          <p:nvPr/>
        </p:nvSpPr>
        <p:spPr>
          <a:xfrm>
            <a:off x="6229350" y="1647825"/>
            <a:ext cx="5657850" cy="26670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4" name="text-24"/>
          <p:cNvSpPr txBox="1"/>
          <p:nvPr/>
        </p:nvSpPr>
        <p:spPr>
          <a:xfrm>
            <a:off x="6438900" y="18764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强耦合 SCDA</a:t>
            </a:r>
            <a:endParaRPr lang="zh-CN" sz="2025"/>
          </a:p>
        </p:txBody>
      </p:sp>
      <p:sp>
        <p:nvSpPr>
          <p:cNvPr id="25" name="text-25"/>
          <p:cNvSpPr txBox="1"/>
          <p:nvPr/>
        </p:nvSpPr>
        <p:spPr>
          <a:xfrm>
            <a:off x="6438900" y="2419350"/>
            <a:ext cx="5238750" cy="1771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联合利用多分量观测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分析时传递跨域观测增量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依赖可信的跨分量误差关系</a:t>
            </a:r>
            <a:endParaRPr lang="zh-CN" sz="1725"/>
          </a:p>
        </p:txBody>
      </p:sp>
      <p:sp>
        <p:nvSpPr>
          <p:cNvPr id="26" name="text-26"/>
          <p:cNvSpPr txBox="1"/>
          <p:nvPr/>
        </p:nvSpPr>
        <p:spPr>
          <a:xfrm>
            <a:off x="304800" y="4657725"/>
            <a:ext cx="3619500" cy="3714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机器学习切入点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304800" y="5172075"/>
            <a:ext cx="11582400" cy="3714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非线性增量映射（DNN-EAKF / MLP）  ·  区域适配观测算子  ·  边界物理约束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9" name="shape-29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0" name="text-30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核心难点：地形、观测密度、误差统计和动力尺度在边界两侧同时变化。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重建更细的结构，也要保留真实的能量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挑战三 · 细尺度过程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304800" y="1609725"/>
            <a:ext cx="115824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2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目标：保留涡旋、锋面与细丝的多尺度变率</a:t>
            </a:r>
            <a:endParaRPr lang="zh-CN" sz="2250"/>
          </a:p>
        </p:txBody>
      </p:sp>
      <p:sp>
        <p:nvSpPr>
          <p:cNvPr id="21" name="shape-21"/>
          <p:cNvSpPr/>
          <p:nvPr/>
        </p:nvSpPr>
        <p:spPr>
          <a:xfrm>
            <a:off x="304800" y="2314575"/>
            <a:ext cx="5657850" cy="21145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2" name="text-22"/>
          <p:cNvSpPr txBox="1"/>
          <p:nvPr/>
        </p:nvSpPr>
        <p:spPr>
          <a:xfrm>
            <a:off x="514350" y="25431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粗分辨率 / 稀疏输入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3086100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超分辨率、GAN、神经算子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学习未被充分解析的结构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6229350" y="2314575"/>
            <a:ext cx="5657850" cy="21145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6438900" y="254317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高分辨率输出</a:t>
            </a:r>
            <a:endParaRPr lang="zh-CN" sz="2025"/>
          </a:p>
        </p:txBody>
      </p:sp>
      <p:sp>
        <p:nvSpPr>
          <p:cNvPr id="26" name="text-26"/>
          <p:cNvSpPr txBox="1"/>
          <p:nvPr/>
        </p:nvSpPr>
        <p:spPr>
          <a:xfrm>
            <a:off x="6438900" y="3086100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必须核对能谱与空间结构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避免生成平滑或失真的细节</a:t>
            </a:r>
            <a:endParaRPr lang="zh-CN" sz="1725"/>
          </a:p>
        </p:txBody>
      </p:sp>
      <p:sp>
        <p:nvSpPr>
          <p:cNvPr id="27" name="text-27"/>
          <p:cNvSpPr txBox="1"/>
          <p:nvPr/>
        </p:nvSpPr>
        <p:spPr>
          <a:xfrm>
            <a:off x="304800" y="4772025"/>
            <a:ext cx="180975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已知风险</a:t>
            </a:r>
            <a:endParaRPr lang="zh-CN" sz="1950"/>
          </a:p>
        </p:txBody>
      </p:sp>
      <p:sp>
        <p:nvSpPr>
          <p:cNvPr id="28" name="text-28"/>
          <p:cNvSpPr txBox="1"/>
          <p:nvPr/>
        </p:nvSpPr>
        <p:spPr>
          <a:xfrm>
            <a:off x="2152650" y="4791075"/>
            <a:ext cx="9525000" cy="714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谱偏差导致小尺度能量衰减；跨海盆迁移与反复回灌后的稳定性验证不足。</a:t>
            </a:r>
            <a:endParaRPr lang="zh-CN" sz="1800"/>
          </a:p>
        </p:txBody>
      </p:sp>
      <p:sp>
        <p:nvSpPr>
          <p:cNvPr id="29" name="shape-29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0" name="shape-30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1" name="text-31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评价需要同时看误差与尺度结构，并继续追踪预报—分析循环中的表现。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物理约束要贯穿模型设计与循环验证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02 / 挑战四 · 物理一致性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57350"/>
            <a:ext cx="3695700" cy="3295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28800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约束位置 01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9075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损失函数中的物理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33675"/>
            <a:ext cx="3276600" cy="209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PINNs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将控制方程作为训练约束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可用于波场与深层流重建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仍面临收敛、噪声和谱偏差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4248150" y="1657350"/>
            <a:ext cx="3695700" cy="3295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4457700" y="1828800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约束位置 02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4457700" y="219075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表示与结构中的物理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4457700" y="2733675"/>
            <a:ext cx="3276600" cy="209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物理引导注意力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潜空间同化与结构化表示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压缩状态维度的同时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需要保留关键动力关系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8191500" y="1657350"/>
            <a:ext cx="3695700" cy="32956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8401050" y="1828800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验证位置 03</a:t>
            </a:r>
            <a:endParaRPr lang="zh-CN" sz="1275"/>
          </a:p>
        </p:txBody>
      </p:sp>
      <p:sp>
        <p:nvSpPr>
          <p:cNvPr id="30" name="text-30"/>
          <p:cNvSpPr txBox="1"/>
          <p:nvPr/>
        </p:nvSpPr>
        <p:spPr>
          <a:xfrm>
            <a:off x="8401050" y="2190750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运行过程中的物理</a:t>
            </a:r>
            <a:endParaRPr lang="zh-CN" sz="2025"/>
          </a:p>
        </p:txBody>
      </p:sp>
      <p:sp>
        <p:nvSpPr>
          <p:cNvPr id="31" name="text-31"/>
          <p:cNvSpPr txBox="1"/>
          <p:nvPr/>
        </p:nvSpPr>
        <p:spPr>
          <a:xfrm>
            <a:off x="8401050" y="2733675"/>
            <a:ext cx="3276600" cy="20955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切线／伴随代理与误差学习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在线偏差订正与参数化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核对梯度、能谱与平衡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监测长期能量和状态漂移</a:t>
            </a:r>
            <a:endParaRPr lang="zh-CN" sz="1725"/>
          </a:p>
        </p:txBody>
      </p:sp>
      <p:sp>
        <p:nvSpPr>
          <p:cNvPr id="32" name="shape-32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3" name="shape-33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4" name="text-34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加入 PDE 损失项不等于业务可用；关键是持续、可信的动力行为。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1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网络复杂度不能直接替代适用性判断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论文原图 · Fig. 3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lang="zh-CN" sz="1275"/>
          </a:p>
        </p:txBody>
      </p:sp>
      <p:pic>
        <p:nvPicPr>
          <p:cNvPr id="20" name="evidence-complete-fig-3" descr="{&quot;kind&quot;: &quot;paper_crop&quot;, &quot;provenance&quot;: {&quot;paper_id&quot;: &quot;grande2026&quot;, &quot;figure&quot;: &quot;Fig. 3&quot;, &quot;page&quot;: 7, &quot;crop_bbox&quot;: [100.0, 71.0, 496.0, 351.0], &quot;pdf_sha256&quot;: &quot;aefc2aa3dcec41d0084e79d9248845cc662ce8a815f5ea2e18559a9c4494b721&quot;, &quot;png_sha256&quot;: &quot;acc4777a3fae24b0ac204f8d7fba99b0b1aebfa3c947bbc83970ae6d6d72708f&quot;, &quot;render_method&quot;: &quot;pdf_clip&quot;, &quot;dpi&quot;: 240, &quot;verified_complete&quot;: true}, &quot;sha256&quot;: &quot;acc4777a3fae24b0ac204f8d7fba99b0b1aebfa3c947bbc83970ae6d6d72708f&quot;}"/>
          <p:cNvPicPr>
            <a:picLocks noChangeAspect="1"/>
          </p:cNvPicPr>
          <p:nvPr/>
        </p:nvPicPr>
        <p:blipFill>
          <a:blip r:embed="evidenceImage3"/>
          <a:stretch>
            <a:fillRect/>
          </a:stretch>
        </p:blipFill>
        <p:spPr>
          <a:xfrm>
            <a:off x="623745" y="1476375"/>
            <a:ext cx="6601111" cy="4667250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6143625"/>
            <a:ext cx="7191375" cy="257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图 3  问题尺度与模型复杂度的分类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7620000" y="6143625"/>
            <a:ext cx="426720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来源：Grande et al. (2026), Fig. 3, PDF p.7</a:t>
            </a:r>
            <a:endParaRPr lang="zh-CN" sz="1275"/>
          </a:p>
        </p:txBody>
      </p:sp>
      <p:sp>
        <p:nvSpPr>
          <p:cNvPr id="23" name="text-23"/>
          <p:cNvSpPr txBox="1"/>
          <p:nvPr/>
        </p:nvSpPr>
        <p:spPr>
          <a:xfrm>
            <a:off x="7981950" y="1733550"/>
            <a:ext cx="385762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从任务出发选模型</a:t>
            </a:r>
            <a:endParaRPr lang="zh-CN" sz="1800"/>
          </a:p>
        </p:txBody>
      </p:sp>
      <p:sp>
        <p:nvSpPr>
          <p:cNvPr id="24" name="text-24"/>
          <p:cNvSpPr txBox="1"/>
          <p:nvPr/>
        </p:nvSpPr>
        <p:spPr>
          <a:xfrm>
            <a:off x="7981950" y="2238375"/>
            <a:ext cx="3857625" cy="2609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CNN：空间重建与超分辨率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LSTM：序列与流场预报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Transformer：长程依赖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神经算子：场到场映射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GAN / 扩散：生成式重建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PINN：物理约束学习</a:t>
            </a:r>
            <a:endParaRPr lang="zh-CN" sz="1725"/>
          </a:p>
        </p:txBody>
      </p:sp>
      <p:sp>
        <p:nvSpPr>
          <p:cNvPr id="25" name="shape-25"/>
          <p:cNvSpPr/>
          <p:nvPr/>
        </p:nvSpPr>
        <p:spPr>
          <a:xfrm>
            <a:off x="7981950" y="5105400"/>
            <a:ext cx="3905250" cy="70485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6" name="text-26"/>
          <p:cNvSpPr txBox="1"/>
          <p:nvPr/>
        </p:nvSpPr>
        <p:spPr>
          <a:xfrm>
            <a:off x="8153400" y="5229225"/>
            <a:ext cx="3552825" cy="523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此图分类研究位置，</a:t>
            </a:r>
            <a:endParaRPr lang="zh-CN" sz="1650"/>
          </a:p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不构成“越复杂越好”的排序。</a:t>
            </a:r>
            <a:endParaRPr lang="zh-CN" sz="1650"/>
          </a:p>
        </p:txBody>
      </p:sp>
    </p:spTree>
    <p:extLst>
      <p:ext uri="{BB962C8B-B14F-4D97-AF65-F5344CB8AC3E}">
        <ns3:creationId val="711463199"/>
      </p:ext>
    </p:extLst>
  </p:cSld>
</p:sld>
</file>

<file path=ppt/slides/slide12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概率重建与快速代理仍需分开评价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两个代表方向 · 数字保留原文条件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5657850" cy="3152775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1927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不确定性方向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812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GenDA：后验集合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24150"/>
            <a:ext cx="5238750" cy="1952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扩散模型生成多个可能的海洋状态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由单一重建转向概率表达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综述指出：集合离散度不足，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部分情形下观测超范围概率达 20%。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6229350" y="1647825"/>
            <a:ext cx="5657850" cy="3152775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6438900" y="181927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计算效率方向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6438900" y="21812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OceanNet：神经算子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6438900" y="2724150"/>
            <a:ext cx="5238750" cy="1952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学习海面高度场随时间的映射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报告约 5 × 10⁵ 倍纯预报推理加速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/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此比较不包含离线训练、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同化循环和观测算子更新。</a:t>
            </a:r>
            <a:endParaRPr lang="zh-CN" sz="1725"/>
          </a:p>
        </p:txBody>
      </p:sp>
      <p:sp>
        <p:nvSpPr>
          <p:cNvPr id="28" name="text-28"/>
          <p:cNvSpPr txBox="1"/>
          <p:nvPr/>
        </p:nvSpPr>
        <p:spPr>
          <a:xfrm>
            <a:off x="495300" y="5191125"/>
            <a:ext cx="11201400" cy="4857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解读原则：一个指标的改善，不能替代对整套同化系统的检验。</a:t>
            </a:r>
            <a:endParaRPr lang="zh-CN" sz="2025"/>
          </a:p>
        </p:txBody>
      </p:sp>
      <p:sp>
        <p:nvSpPr>
          <p:cNvPr id="29" name="shape-29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0" name="shape-30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1" name="text-31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两项结果来自综述对原研究的转述；本汇报未独立复现实验。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3.xml><?xml version="1.0" encoding="utf-8"?>
<p:sld xmlns:a="http://schemas.openxmlformats.org/drawingml/2006/main" xmlns:ns3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多数研究距离业务化仍有关键台阶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论文原图 · Fig. 4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lang="zh-CN" sz="1275"/>
          </a:p>
        </p:txBody>
      </p:sp>
      <p:pic>
        <p:nvPicPr>
          <p:cNvPr id="20" name="evidence-complete-fig-4" descr="{&quot;kind&quot;: &quot;paper_crop&quot;, &quot;provenance&quot;: {&quot;paper_id&quot;: &quot;grande2026&quot;, &quot;figure&quot;: &quot;Fig. 4&quot;, &quot;page&quot;: 8, &quot;crop_bbox&quot;: [102.0, 52.0, 497.0, 214.0], &quot;pdf_sha256&quot;: &quot;aefc2aa3dcec41d0084e79d9248845cc662ce8a815f5ea2e18559a9c4494b721&quot;, &quot;png_sha256&quot;: &quot;455a5ab50c7747bd58eed716a519e82417d014cf286543f52a9bf47c37119d4f&quot;, &quot;render_method&quot;: &quot;pdf_clip&quot;, &quot;dpi&quot;: 240, &quot;verified_complete&quot;: true}, &quot;sha256&quot;: &quot;455a5ab50c7747bd58eed716a519e82417d014cf286543f52a9bf47c37119d4f&quot;}"/>
          <p:cNvPicPr>
            <a:picLocks noChangeAspect="1"/>
          </p:cNvPicPr>
          <p:nvPr/>
        </p:nvPicPr>
        <p:blipFill>
          <a:blip r:embed="evidenceImage4"/>
          <a:stretch>
            <a:fillRect/>
          </a:stretch>
        </p:blipFill>
        <p:spPr>
          <a:xfrm>
            <a:off x="646943" y="1552575"/>
            <a:ext cx="10898114" cy="4476750"/>
          </a:xfrm>
          <a:prstGeom prst="rect">
            <a:avLst/>
          </a:prstGeom>
        </p:spPr>
      </p:pic>
      <p:sp>
        <p:nvSpPr>
          <p:cNvPr id="21" name="text-21"/>
          <p:cNvSpPr txBox="1"/>
          <p:nvPr/>
        </p:nvSpPr>
        <p:spPr>
          <a:xfrm>
            <a:off x="304800" y="6086475"/>
            <a:ext cx="7286625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图 4  从理想实验到业务化的成熟度阶梯</a:t>
            </a:r>
            <a:endParaRPr lang="zh-CN" sz="1500"/>
          </a:p>
        </p:txBody>
      </p:sp>
      <p:sp>
        <p:nvSpPr>
          <p:cNvPr id="22" name="text-22"/>
          <p:cNvSpPr txBox="1"/>
          <p:nvPr/>
        </p:nvSpPr>
        <p:spPr>
          <a:xfrm>
            <a:off x="7620000" y="6086475"/>
            <a:ext cx="4267200" cy="2571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来源：Grande et al. (2026), Fig. 4, PDF p.8</a:t>
            </a:r>
            <a:endParaRPr lang="zh-CN" sz="1275"/>
          </a:p>
        </p:txBody>
      </p:sp>
    </p:spTree>
    <p:extLst>
      <p:ext uri="{BB962C8B-B14F-4D97-AF65-F5344CB8AC3E}">
        <ns3:creationId val="711463199"/>
      </p:ext>
    </p:extLst>
  </p:cSld>
</p:sld>
</file>

<file path=ppt/slides/slide14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成熟度取决于验证条件，而非模型名称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03 / 五阶段路线 · 依据正文 §3.2 整理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2076450"/>
            <a:ext cx="2209800" cy="2571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476250" y="2257425"/>
            <a:ext cx="18669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2850"/>
          </a:p>
        </p:txBody>
      </p:sp>
      <p:sp>
        <p:nvSpPr>
          <p:cNvPr id="22" name="text-22"/>
          <p:cNvSpPr txBox="1"/>
          <p:nvPr/>
        </p:nvSpPr>
        <p:spPr>
          <a:xfrm>
            <a:off x="476250" y="2886075"/>
            <a:ext cx="1866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概念设计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476250" y="3448050"/>
            <a:ext cx="1866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1–2</a:t>
            </a:r>
            <a:endParaRPr lang="zh-CN" sz="1725"/>
          </a:p>
        </p:txBody>
      </p:sp>
      <p:sp>
        <p:nvSpPr>
          <p:cNvPr id="24" name="text-24"/>
          <p:cNvSpPr txBox="1"/>
          <p:nvPr/>
        </p:nvSpPr>
        <p:spPr>
          <a:xfrm>
            <a:off x="476250" y="4010025"/>
            <a:ext cx="18669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定义问题与算法</a:t>
            </a:r>
            <a:endParaRPr lang="zh-CN" sz="1575"/>
          </a:p>
        </p:txBody>
      </p:sp>
      <p:sp>
        <p:nvSpPr>
          <p:cNvPr id="25" name="shape-25"/>
          <p:cNvSpPr/>
          <p:nvPr/>
        </p:nvSpPr>
        <p:spPr>
          <a:xfrm>
            <a:off x="2647950" y="2076450"/>
            <a:ext cx="2209800" cy="2571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6" name="text-26"/>
          <p:cNvSpPr txBox="1"/>
          <p:nvPr/>
        </p:nvSpPr>
        <p:spPr>
          <a:xfrm>
            <a:off x="2819400" y="2257425"/>
            <a:ext cx="18669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2850"/>
          </a:p>
        </p:txBody>
      </p:sp>
      <p:sp>
        <p:nvSpPr>
          <p:cNvPr id="27" name="text-27"/>
          <p:cNvSpPr txBox="1"/>
          <p:nvPr/>
        </p:nvSpPr>
        <p:spPr>
          <a:xfrm>
            <a:off x="2819400" y="2886075"/>
            <a:ext cx="1866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理想模型</a:t>
            </a:r>
            <a:endParaRPr lang="zh-CN" sz="2025"/>
          </a:p>
        </p:txBody>
      </p:sp>
      <p:sp>
        <p:nvSpPr>
          <p:cNvPr id="28" name="text-28"/>
          <p:cNvSpPr txBox="1"/>
          <p:nvPr/>
        </p:nvSpPr>
        <p:spPr>
          <a:xfrm>
            <a:off x="2819400" y="3448050"/>
            <a:ext cx="1866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2–3</a:t>
            </a:r>
            <a:endParaRPr lang="zh-CN" sz="1725"/>
          </a:p>
        </p:txBody>
      </p:sp>
      <p:sp>
        <p:nvSpPr>
          <p:cNvPr id="29" name="text-29"/>
          <p:cNvSpPr txBox="1"/>
          <p:nvPr/>
        </p:nvSpPr>
        <p:spPr>
          <a:xfrm>
            <a:off x="2819400" y="4010025"/>
            <a:ext cx="18669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分离并检验机制</a:t>
            </a:r>
            <a:endParaRPr lang="zh-CN" sz="1575"/>
          </a:p>
        </p:txBody>
      </p:sp>
      <p:sp>
        <p:nvSpPr>
          <p:cNvPr id="30" name="shape-30"/>
          <p:cNvSpPr/>
          <p:nvPr/>
        </p:nvSpPr>
        <p:spPr>
          <a:xfrm>
            <a:off x="4991100" y="2076450"/>
            <a:ext cx="2209800" cy="2571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31" name="text-31"/>
          <p:cNvSpPr txBox="1"/>
          <p:nvPr/>
        </p:nvSpPr>
        <p:spPr>
          <a:xfrm>
            <a:off x="5162550" y="2257425"/>
            <a:ext cx="18669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2850"/>
          </a:p>
        </p:txBody>
      </p:sp>
      <p:sp>
        <p:nvSpPr>
          <p:cNvPr id="32" name="text-32"/>
          <p:cNvSpPr txBox="1"/>
          <p:nvPr/>
        </p:nvSpPr>
        <p:spPr>
          <a:xfrm>
            <a:off x="5162550" y="2886075"/>
            <a:ext cx="1866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OSSE</a:t>
            </a:r>
            <a:endParaRPr lang="zh-CN" sz="2025"/>
          </a:p>
        </p:txBody>
      </p:sp>
      <p:sp>
        <p:nvSpPr>
          <p:cNvPr id="33" name="text-33"/>
          <p:cNvSpPr txBox="1"/>
          <p:nvPr/>
        </p:nvSpPr>
        <p:spPr>
          <a:xfrm>
            <a:off x="5162550" y="3448050"/>
            <a:ext cx="1866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4–5</a:t>
            </a:r>
            <a:endParaRPr lang="zh-CN" sz="1725"/>
          </a:p>
        </p:txBody>
      </p:sp>
      <p:sp>
        <p:nvSpPr>
          <p:cNvPr id="34" name="text-34"/>
          <p:cNvSpPr txBox="1"/>
          <p:nvPr/>
        </p:nvSpPr>
        <p:spPr>
          <a:xfrm>
            <a:off x="5162550" y="4010025"/>
            <a:ext cx="18669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合成观测对照真值</a:t>
            </a:r>
            <a:endParaRPr lang="zh-CN" sz="1575"/>
          </a:p>
        </p:txBody>
      </p:sp>
      <p:sp>
        <p:nvSpPr>
          <p:cNvPr id="35" name="shape-35"/>
          <p:cNvSpPr/>
          <p:nvPr/>
        </p:nvSpPr>
        <p:spPr>
          <a:xfrm>
            <a:off x="7334250" y="2076450"/>
            <a:ext cx="2209800" cy="2571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36" name="text-36"/>
          <p:cNvSpPr txBox="1"/>
          <p:nvPr/>
        </p:nvSpPr>
        <p:spPr>
          <a:xfrm>
            <a:off x="7505700" y="2257425"/>
            <a:ext cx="18669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lang="zh-CN" sz="2850"/>
          </a:p>
        </p:txBody>
      </p:sp>
      <p:sp>
        <p:nvSpPr>
          <p:cNvPr id="37" name="text-37"/>
          <p:cNvSpPr txBox="1"/>
          <p:nvPr/>
        </p:nvSpPr>
        <p:spPr>
          <a:xfrm>
            <a:off x="7505700" y="2886075"/>
            <a:ext cx="1866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真实数据</a:t>
            </a:r>
            <a:endParaRPr lang="zh-CN" sz="2025"/>
          </a:p>
        </p:txBody>
      </p:sp>
      <p:sp>
        <p:nvSpPr>
          <p:cNvPr id="38" name="text-38"/>
          <p:cNvSpPr txBox="1"/>
          <p:nvPr/>
        </p:nvSpPr>
        <p:spPr>
          <a:xfrm>
            <a:off x="7505700" y="3448050"/>
            <a:ext cx="1866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6–7</a:t>
            </a:r>
            <a:endParaRPr lang="zh-CN" sz="1725"/>
          </a:p>
        </p:txBody>
      </p:sp>
      <p:sp>
        <p:nvSpPr>
          <p:cNvPr id="39" name="text-39"/>
          <p:cNvSpPr txBox="1"/>
          <p:nvPr/>
        </p:nvSpPr>
        <p:spPr>
          <a:xfrm>
            <a:off x="7505700" y="4010025"/>
            <a:ext cx="18669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海区与观测实测</a:t>
            </a:r>
            <a:endParaRPr lang="zh-CN" sz="1575"/>
          </a:p>
        </p:txBody>
      </p:sp>
      <p:sp>
        <p:nvSpPr>
          <p:cNvPr id="40" name="shape-40"/>
          <p:cNvSpPr/>
          <p:nvPr/>
        </p:nvSpPr>
        <p:spPr>
          <a:xfrm>
            <a:off x="9677400" y="2076450"/>
            <a:ext cx="2209800" cy="2571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41" name="text-41"/>
          <p:cNvSpPr txBox="1"/>
          <p:nvPr/>
        </p:nvSpPr>
        <p:spPr>
          <a:xfrm>
            <a:off x="9848850" y="2257425"/>
            <a:ext cx="1866900" cy="4762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lang="zh-CN" sz="2850"/>
          </a:p>
        </p:txBody>
      </p:sp>
      <p:sp>
        <p:nvSpPr>
          <p:cNvPr id="42" name="text-42"/>
          <p:cNvSpPr txBox="1"/>
          <p:nvPr/>
        </p:nvSpPr>
        <p:spPr>
          <a:xfrm>
            <a:off x="9848850" y="2886075"/>
            <a:ext cx="18669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准业务化</a:t>
            </a:r>
            <a:endParaRPr lang="zh-CN" sz="2025"/>
          </a:p>
        </p:txBody>
      </p:sp>
      <p:sp>
        <p:nvSpPr>
          <p:cNvPr id="43" name="text-43"/>
          <p:cNvSpPr txBox="1"/>
          <p:nvPr/>
        </p:nvSpPr>
        <p:spPr>
          <a:xfrm>
            <a:off x="9848850" y="3448050"/>
            <a:ext cx="1866900" cy="3429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8–9</a:t>
            </a:r>
            <a:endParaRPr lang="zh-CN" sz="1725"/>
          </a:p>
        </p:txBody>
      </p:sp>
      <p:sp>
        <p:nvSpPr>
          <p:cNvPr id="44" name="text-44"/>
          <p:cNvSpPr txBox="1"/>
          <p:nvPr/>
        </p:nvSpPr>
        <p:spPr>
          <a:xfrm>
            <a:off x="9848850" y="4010025"/>
            <a:ext cx="18669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实时、持续、稳健</a:t>
            </a:r>
            <a:endParaRPr lang="zh-CN" sz="1575"/>
          </a:p>
        </p:txBody>
      </p:sp>
      <p:sp>
        <p:nvSpPr>
          <p:cNvPr id="45" name="text-45"/>
          <p:cNvSpPr txBox="1"/>
          <p:nvPr/>
        </p:nvSpPr>
        <p:spPr>
          <a:xfrm>
            <a:off x="304800" y="5057775"/>
            <a:ext cx="11582400" cy="4000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22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多数研究集中在 TRL 2–7</a:t>
            </a:r>
            <a:endParaRPr lang="zh-CN" sz="2250"/>
          </a:p>
        </p:txBody>
      </p:sp>
      <p:sp>
        <p:nvSpPr>
          <p:cNvPr id="46" name="text-46"/>
          <p:cNvSpPr txBox="1"/>
          <p:nvPr/>
        </p:nvSpPr>
        <p:spPr>
          <a:xfrm>
            <a:off x="762000" y="5648325"/>
            <a:ext cx="10668000" cy="428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lang="zh-CN" sz="172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OSSE：观测系统模拟试验；误差设定不真实时，可能高估方法能力。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让指标覆盖精度、物理、概率与成本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评价框架 · 汇报者依据综述整理的检查清单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11582400" cy="89535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495300" y="1857375"/>
            <a:ext cx="2047875" cy="4095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精度与泛化</a:t>
            </a:r>
            <a:endParaRPr lang="zh-CN" sz="1950"/>
          </a:p>
        </p:txBody>
      </p:sp>
      <p:sp>
        <p:nvSpPr>
          <p:cNvPr id="22" name="text-22"/>
          <p:cNvSpPr txBox="1"/>
          <p:nvPr/>
        </p:nvSpPr>
        <p:spPr>
          <a:xfrm>
            <a:off x="2676525" y="1762125"/>
            <a:ext cx="54102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误差／偏差；跨海区、季节、观测密度测试</a:t>
            </a:r>
            <a:endParaRPr lang="zh-CN" sz="1725"/>
          </a:p>
        </p:txBody>
      </p:sp>
      <p:sp>
        <p:nvSpPr>
          <p:cNvPr id="23" name="text-23"/>
          <p:cNvSpPr txBox="1"/>
          <p:nvPr/>
        </p:nvSpPr>
        <p:spPr>
          <a:xfrm>
            <a:off x="8410575" y="1790700"/>
            <a:ext cx="3238500" cy="619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避免只看训练域平均误差</a:t>
            </a:r>
            <a:endParaRPr lang="zh-CN" sz="1650"/>
          </a:p>
        </p:txBody>
      </p:sp>
      <p:sp>
        <p:nvSpPr>
          <p:cNvPr id="24" name="shape-24"/>
          <p:cNvSpPr/>
          <p:nvPr/>
        </p:nvSpPr>
        <p:spPr>
          <a:xfrm>
            <a:off x="304800" y="2695575"/>
            <a:ext cx="11582400" cy="895350"/>
          </a:xfrm>
          <a:prstGeom prst="rect">
            <a:avLst/>
          </a:prstGeom>
          <a:solidFill>
            <a:srgbClr val="F7FAFB"/>
          </a:solidFill>
        </p:spPr>
      </p:sp>
      <p:sp>
        <p:nvSpPr>
          <p:cNvPr id="25" name="text-25"/>
          <p:cNvSpPr txBox="1"/>
          <p:nvPr/>
        </p:nvSpPr>
        <p:spPr>
          <a:xfrm>
            <a:off x="495300" y="2905125"/>
            <a:ext cx="2047875" cy="4095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细尺度与物理</a:t>
            </a:r>
            <a:endParaRPr lang="zh-CN" sz="1950"/>
          </a:p>
        </p:txBody>
      </p:sp>
      <p:sp>
        <p:nvSpPr>
          <p:cNvPr id="26" name="text-26"/>
          <p:cNvSpPr txBox="1"/>
          <p:nvPr/>
        </p:nvSpPr>
        <p:spPr>
          <a:xfrm>
            <a:off x="2676525" y="2809875"/>
            <a:ext cx="54102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能谱、空间结构、守恒残差与长期漂移</a:t>
            </a:r>
            <a:endParaRPr lang="zh-CN" sz="1725"/>
          </a:p>
        </p:txBody>
      </p:sp>
      <p:sp>
        <p:nvSpPr>
          <p:cNvPr id="27" name="text-27"/>
          <p:cNvSpPr txBox="1"/>
          <p:nvPr/>
        </p:nvSpPr>
        <p:spPr>
          <a:xfrm>
            <a:off x="8410575" y="2838450"/>
            <a:ext cx="3238500" cy="619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区分平滑改善与动力改善</a:t>
            </a:r>
            <a:endParaRPr lang="zh-CN" sz="1650"/>
          </a:p>
        </p:txBody>
      </p:sp>
      <p:sp>
        <p:nvSpPr>
          <p:cNvPr id="28" name="shape-28"/>
          <p:cNvSpPr/>
          <p:nvPr/>
        </p:nvSpPr>
        <p:spPr>
          <a:xfrm>
            <a:off x="304800" y="3743325"/>
            <a:ext cx="11582400" cy="89535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495300" y="3952875"/>
            <a:ext cx="2047875" cy="4095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概率与稳定性</a:t>
            </a:r>
            <a:endParaRPr lang="zh-CN" sz="1950"/>
          </a:p>
        </p:txBody>
      </p:sp>
      <p:sp>
        <p:nvSpPr>
          <p:cNvPr id="30" name="text-30"/>
          <p:cNvSpPr txBox="1"/>
          <p:nvPr/>
        </p:nvSpPr>
        <p:spPr>
          <a:xfrm>
            <a:off x="2676525" y="3857625"/>
            <a:ext cx="54102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集合离散度、覆盖率；连续同化循环</a:t>
            </a:r>
            <a:endParaRPr lang="zh-CN" sz="1725"/>
          </a:p>
        </p:txBody>
      </p:sp>
      <p:sp>
        <p:nvSpPr>
          <p:cNvPr id="31" name="text-31"/>
          <p:cNvSpPr txBox="1"/>
          <p:nvPr/>
        </p:nvSpPr>
        <p:spPr>
          <a:xfrm>
            <a:off x="8410575" y="3886200"/>
            <a:ext cx="3238500" cy="619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避免过窄区间与时间不连贯</a:t>
            </a:r>
            <a:endParaRPr lang="zh-CN" sz="1650"/>
          </a:p>
        </p:txBody>
      </p:sp>
      <p:sp>
        <p:nvSpPr>
          <p:cNvPr id="32" name="shape-32"/>
          <p:cNvSpPr/>
          <p:nvPr/>
        </p:nvSpPr>
        <p:spPr>
          <a:xfrm>
            <a:off x="304800" y="4791075"/>
            <a:ext cx="11582400" cy="895350"/>
          </a:xfrm>
          <a:prstGeom prst="rect">
            <a:avLst/>
          </a:prstGeom>
          <a:solidFill>
            <a:srgbClr val="F7FAFB"/>
          </a:solidFill>
        </p:spPr>
      </p:sp>
      <p:sp>
        <p:nvSpPr>
          <p:cNvPr id="33" name="text-33"/>
          <p:cNvSpPr txBox="1"/>
          <p:nvPr/>
        </p:nvSpPr>
        <p:spPr>
          <a:xfrm>
            <a:off x="495300" y="5000625"/>
            <a:ext cx="2047875" cy="4095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9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计算与运行</a:t>
            </a:r>
            <a:endParaRPr lang="zh-CN" sz="1950"/>
          </a:p>
        </p:txBody>
      </p:sp>
      <p:sp>
        <p:nvSpPr>
          <p:cNvPr id="34" name="text-34"/>
          <p:cNvSpPr txBox="1"/>
          <p:nvPr/>
        </p:nvSpPr>
        <p:spPr>
          <a:xfrm>
            <a:off x="2676525" y="4905375"/>
            <a:ext cx="541020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训练、适配、推理及同化全流程成本</a:t>
            </a:r>
            <a:endParaRPr lang="zh-CN" sz="1725"/>
          </a:p>
        </p:txBody>
      </p:sp>
      <p:sp>
        <p:nvSpPr>
          <p:cNvPr id="35" name="text-35"/>
          <p:cNvSpPr txBox="1"/>
          <p:nvPr/>
        </p:nvSpPr>
        <p:spPr>
          <a:xfrm>
            <a:off x="8410575" y="4933950"/>
            <a:ext cx="3238500" cy="6191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区分推理快与系统收益</a:t>
            </a:r>
            <a:endParaRPr lang="zh-CN" sz="1650"/>
          </a:p>
        </p:txBody>
      </p:sp>
    </p:spTree>
    <p:extLst>
      <p:ext uri="{BB962C8B-B14F-4D97-AF65-F5344CB8AC3E}">
        <ns2:creationId val="711463199"/>
      </p:ext>
    </p:extLst>
  </p:cSld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这篇综述提供路线图，也留下比较空缺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文献评价 · 汇报者判断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5657850" cy="33528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1927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优点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812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值得借鉴的组织方式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24150"/>
            <a:ext cx="5238750" cy="2152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用科学问题串联技术贡献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同时看流程位置、海域与尺度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强调物理一致性和运行成熟度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将研究目标延伸到在线循环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6229350" y="1647825"/>
            <a:ext cx="5657850" cy="335280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6438900" y="1819275"/>
            <a:ext cx="523875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局限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6438900" y="2181225"/>
            <a:ext cx="523875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不能由本文直接回答的问题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6438900" y="2724150"/>
            <a:ext cx="5238750" cy="2152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不同架构在同一基准下谁最好？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跨海区收益是否稳定、可重复？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训练和维护后净计算收益多大？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TRL 归类能否量化、复核？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9" name="shape-29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0" name="text-30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阅读价值在于建立研究与验证框架；算法选择仍需回到任务和原始研究。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可从一个可替换模块开始验证混合方案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研究启发 · 汇报者建议的最小验证路线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17</a:t>
            </a:r>
            <a:endParaRPr lang="zh-CN" sz="1275"/>
          </a:p>
        </p:txBody>
      </p:sp>
      <p:sp>
        <p:nvSpPr>
          <p:cNvPr id="20" name="shape-20"/>
          <p:cNvSpPr/>
          <p:nvPr/>
        </p:nvSpPr>
        <p:spPr>
          <a:xfrm>
            <a:off x="304800" y="1647825"/>
            <a:ext cx="3695700" cy="3333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1" name="text-21"/>
          <p:cNvSpPr txBox="1"/>
          <p:nvPr/>
        </p:nvSpPr>
        <p:spPr>
          <a:xfrm>
            <a:off x="51435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第一步</a:t>
            </a:r>
            <a:endParaRPr lang="zh-CN" sz="1275"/>
          </a:p>
        </p:txBody>
      </p:sp>
      <p:sp>
        <p:nvSpPr>
          <p:cNvPr id="22" name="text-22"/>
          <p:cNvSpPr txBox="1"/>
          <p:nvPr/>
        </p:nvSpPr>
        <p:spPr>
          <a:xfrm>
            <a:off x="51435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固定基线与任务</a:t>
            </a:r>
            <a:endParaRPr lang="zh-CN" sz="2025"/>
          </a:p>
        </p:txBody>
      </p:sp>
      <p:sp>
        <p:nvSpPr>
          <p:cNvPr id="23" name="text-23"/>
          <p:cNvSpPr txBox="1"/>
          <p:nvPr/>
        </p:nvSpPr>
        <p:spPr>
          <a:xfrm>
            <a:off x="514350" y="2724150"/>
            <a:ext cx="3276600" cy="213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从 SSH 重建或偏差订正切入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固定训练／测试与观测划分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保留传统同化的可比较基线</a:t>
            </a:r>
            <a:endParaRPr lang="zh-CN" sz="1725"/>
          </a:p>
        </p:txBody>
      </p:sp>
      <p:sp>
        <p:nvSpPr>
          <p:cNvPr id="24" name="shape-24"/>
          <p:cNvSpPr/>
          <p:nvPr/>
        </p:nvSpPr>
        <p:spPr>
          <a:xfrm>
            <a:off x="4248150" y="1647825"/>
            <a:ext cx="3695700" cy="3333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5" name="text-25"/>
          <p:cNvSpPr txBox="1"/>
          <p:nvPr/>
        </p:nvSpPr>
        <p:spPr>
          <a:xfrm>
            <a:off x="445770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第二步</a:t>
            </a:r>
            <a:endParaRPr lang="zh-CN" sz="1275"/>
          </a:p>
        </p:txBody>
      </p:sp>
      <p:sp>
        <p:nvSpPr>
          <p:cNvPr id="26" name="text-26"/>
          <p:cNvSpPr txBox="1"/>
          <p:nvPr/>
        </p:nvSpPr>
        <p:spPr>
          <a:xfrm>
            <a:off x="445770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检验模块与迁移</a:t>
            </a:r>
            <a:endParaRPr lang="zh-CN" sz="2025"/>
          </a:p>
        </p:txBody>
      </p:sp>
      <p:sp>
        <p:nvSpPr>
          <p:cNvPr id="27" name="text-27"/>
          <p:cNvSpPr txBox="1"/>
          <p:nvPr/>
        </p:nvSpPr>
        <p:spPr>
          <a:xfrm>
            <a:off x="4457700" y="2724150"/>
            <a:ext cx="3276600" cy="213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先验证精度、能谱和误差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加入未见海区／季节测试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识别分布变化与失效情形</a:t>
            </a:r>
            <a:endParaRPr lang="zh-CN" sz="1725"/>
          </a:p>
        </p:txBody>
      </p:sp>
      <p:sp>
        <p:nvSpPr>
          <p:cNvPr id="28" name="shape-28"/>
          <p:cNvSpPr/>
          <p:nvPr/>
        </p:nvSpPr>
        <p:spPr>
          <a:xfrm>
            <a:off x="8191500" y="1647825"/>
            <a:ext cx="3695700" cy="3333750"/>
          </a:xfrm>
          <a:prstGeom prst="roundRect">
            <a:avLst/>
          </a:prstGeom>
          <a:solidFill>
            <a:srgbClr val="EFF8FB"/>
          </a:solidFill>
        </p:spPr>
      </p:sp>
      <p:sp>
        <p:nvSpPr>
          <p:cNvPr id="29" name="text-29"/>
          <p:cNvSpPr txBox="1"/>
          <p:nvPr/>
        </p:nvSpPr>
        <p:spPr>
          <a:xfrm>
            <a:off x="8401050" y="1819275"/>
            <a:ext cx="3276600" cy="266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第三步</a:t>
            </a:r>
            <a:endParaRPr lang="zh-CN" sz="1275"/>
          </a:p>
        </p:txBody>
      </p:sp>
      <p:sp>
        <p:nvSpPr>
          <p:cNvPr id="30" name="text-30"/>
          <p:cNvSpPr txBox="1"/>
          <p:nvPr/>
        </p:nvSpPr>
        <p:spPr>
          <a:xfrm>
            <a:off x="8401050" y="2181225"/>
            <a:ext cx="3276600" cy="3619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0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进入在线循环</a:t>
            </a:r>
            <a:endParaRPr lang="zh-CN" sz="2025"/>
          </a:p>
        </p:txBody>
      </p:sp>
      <p:sp>
        <p:nvSpPr>
          <p:cNvPr id="31" name="text-31"/>
          <p:cNvSpPr txBox="1"/>
          <p:nvPr/>
        </p:nvSpPr>
        <p:spPr>
          <a:xfrm>
            <a:off x="8401050" y="2724150"/>
            <a:ext cx="3276600" cy="2133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持续运行预报—分析回灌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核对稳定性、概率与总耗时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保留异常检测和基线回退</a:t>
            </a:r>
            <a:endParaRPr lang="zh-CN" sz="1725"/>
          </a:p>
        </p:txBody>
      </p:sp>
      <p:sp>
        <p:nvSpPr>
          <p:cNvPr id="32" name="shape-32"/>
          <p:cNvSpPr/>
          <p:nvPr/>
        </p:nvSpPr>
        <p:spPr>
          <a:xfrm>
            <a:off x="304800" y="5819775"/>
            <a:ext cx="11582400" cy="4572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33" name="shape-33"/>
          <p:cNvSpPr/>
          <p:nvPr/>
        </p:nvSpPr>
        <p:spPr>
          <a:xfrm>
            <a:off x="304800" y="5819775"/>
            <a:ext cx="47625" cy="457200"/>
          </a:xfrm>
          <a:prstGeom prst="rect">
            <a:avLst/>
          </a:prstGeom>
          <a:solidFill>
            <a:srgbClr val="D15B55"/>
          </a:solidFill>
        </p:spPr>
      </p:sp>
      <p:sp>
        <p:nvSpPr>
          <p:cNvPr id="34" name="text-34"/>
          <p:cNvSpPr txBox="1"/>
          <p:nvPr/>
        </p:nvSpPr>
        <p:spPr>
          <a:xfrm>
            <a:off x="495300" y="5895975"/>
            <a:ext cx="11191875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研究问题示例：离线 SSH 重建收益，能否在跨海区在线同化后保留下来？</a:t>
            </a:r>
            <a:endParaRPr lang="zh-CN" sz="1725"/>
          </a:p>
        </p:txBody>
      </p:sp>
    </p:spTree>
    <p:extLst>
      <p:ext uri="{BB962C8B-B14F-4D97-AF65-F5344CB8AC3E}">
        <ns2:creationId val="711463199"/>
      </p:ext>
    </p:extLst>
  </p:cSld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三点结论与一个值得讨论的问题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04 / 总结与讨论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18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400050" y="1685925"/>
            <a:ext cx="809625" cy="523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lang="zh-CN" sz="2850"/>
          </a:p>
        </p:txBody>
      </p:sp>
      <p:sp>
        <p:nvSpPr>
          <p:cNvPr id="21" name="text-21"/>
          <p:cNvSpPr txBox="1"/>
          <p:nvPr/>
        </p:nvSpPr>
        <p:spPr>
          <a:xfrm>
            <a:off x="1381125" y="1733550"/>
            <a:ext cx="10410825" cy="647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1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机器学习已能增强观测重建、误差学习与代理计算。</a:t>
            </a:r>
            <a:endParaRPr lang="zh-CN" sz="2175"/>
          </a:p>
        </p:txBody>
      </p:sp>
      <p:sp>
        <p:nvSpPr>
          <p:cNvPr id="22" name="text-22"/>
          <p:cNvSpPr txBox="1"/>
          <p:nvPr/>
        </p:nvSpPr>
        <p:spPr>
          <a:xfrm>
            <a:off x="400050" y="2657475"/>
            <a:ext cx="809625" cy="523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lang="zh-CN" sz="2850"/>
          </a:p>
        </p:txBody>
      </p:sp>
      <p:sp>
        <p:nvSpPr>
          <p:cNvPr id="23" name="text-23"/>
          <p:cNvSpPr txBox="1"/>
          <p:nvPr/>
        </p:nvSpPr>
        <p:spPr>
          <a:xfrm>
            <a:off x="1381125" y="2705100"/>
            <a:ext cx="10410825" cy="647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1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细尺度结构、物理一致性与不确定性需要一起检验。</a:t>
            </a:r>
            <a:endParaRPr lang="zh-CN" sz="2175"/>
          </a:p>
        </p:txBody>
      </p:sp>
      <p:sp>
        <p:nvSpPr>
          <p:cNvPr id="24" name="text-24"/>
          <p:cNvSpPr txBox="1"/>
          <p:nvPr/>
        </p:nvSpPr>
        <p:spPr>
          <a:xfrm>
            <a:off x="400050" y="3629025"/>
            <a:ext cx="809625" cy="5238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850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lang="zh-CN" sz="2850"/>
          </a:p>
        </p:txBody>
      </p:sp>
      <p:sp>
        <p:nvSpPr>
          <p:cNvPr id="25" name="text-25"/>
          <p:cNvSpPr txBox="1"/>
          <p:nvPr/>
        </p:nvSpPr>
        <p:spPr>
          <a:xfrm>
            <a:off x="1381125" y="3676650"/>
            <a:ext cx="10410825" cy="647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1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业务化的关键证据来自跨域、真实、持续的在线循环。</a:t>
            </a:r>
            <a:endParaRPr lang="zh-CN" sz="2175"/>
          </a:p>
        </p:txBody>
      </p:sp>
      <p:sp>
        <p:nvSpPr>
          <p:cNvPr id="26" name="shape-26"/>
          <p:cNvSpPr/>
          <p:nvPr/>
        </p:nvSpPr>
        <p:spPr>
          <a:xfrm>
            <a:off x="304800" y="4895850"/>
            <a:ext cx="11582400" cy="1257300"/>
          </a:xfrm>
          <a:prstGeom prst="rect">
            <a:avLst/>
          </a:prstGeom>
          <a:solidFill>
            <a:srgbClr val="EFF8FB"/>
          </a:solidFill>
        </p:spPr>
      </p:sp>
      <p:sp>
        <p:nvSpPr>
          <p:cNvPr id="27" name="text-27"/>
          <p:cNvSpPr txBox="1"/>
          <p:nvPr/>
        </p:nvSpPr>
        <p:spPr>
          <a:xfrm>
            <a:off x="514350" y="5057775"/>
            <a:ext cx="11001375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1" dirty="0">
                <a:solidFill>
                  <a:srgbClr val="D15B55"/>
                </a:solidFill>
                <a:latin typeface="Noto Sans CJK SC"/>
                <a:ea typeface="Noto Sans CJK SC"/>
                <a:cs typeface="Noto Sans CJK SC"/>
              </a:rPr>
              <a:t>讨论</a:t>
            </a:r>
            <a:endParaRPr lang="zh-CN" sz="1725"/>
          </a:p>
        </p:txBody>
      </p:sp>
      <p:sp>
        <p:nvSpPr>
          <p:cNvPr id="28" name="text-28"/>
          <p:cNvSpPr txBox="1"/>
          <p:nvPr/>
        </p:nvSpPr>
        <p:spPr>
          <a:xfrm>
            <a:off x="514350" y="5495925"/>
            <a:ext cx="11001375" cy="4667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21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当补全后的海洋场更“像真”，怎样证明它也带来更好的分析与预报？</a:t>
            </a:r>
            <a:endParaRPr lang="zh-CN" sz="2100"/>
          </a:p>
        </p:txBody>
      </p:sp>
    </p:spTree>
    <p:extLst>
      <p:ext uri="{BB962C8B-B14F-4D97-AF65-F5344CB8AC3E}">
        <ns2:creationId val="711463199"/>
      </p:ext>
    </p:extLst>
  </p:cSld>
</p:sld>
</file>

<file path=ppt/slides/slide19.xml><?xml version="1.0" encoding="utf-8"?>
<p:sld xmlns:a="http://schemas.openxmlformats.org/drawingml/2006/main" xmlns:ns2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canvas-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background-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-13"/>
          <p:cNvSpPr/>
          <p:nvPr/>
        </p:nvSpPr>
        <p:spPr>
          <a:xfrm>
            <a:off x="304800" y="266700"/>
            <a:ext cx="57150" cy="485775"/>
          </a:xfrm>
          <a:prstGeom prst="rect">
            <a:avLst/>
          </a:prstGeom>
          <a:solidFill>
            <a:srgbClr val="087F9A"/>
          </a:solidFill>
        </p:spPr>
      </p:sp>
      <p:sp>
        <p:nvSpPr>
          <p:cNvPr id="14" name="title-14"/>
          <p:cNvSpPr txBox="1"/>
          <p:nvPr/>
        </p:nvSpPr>
        <p:spPr>
          <a:xfrm>
            <a:off x="514350" y="228600"/>
            <a:ext cx="11372850" cy="5905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31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主要文献与进一步阅读</a:t>
            </a:r>
            <a:endParaRPr lang="zh-CN" sz="3150"/>
          </a:p>
        </p:txBody>
      </p:sp>
      <p:sp>
        <p:nvSpPr>
          <p:cNvPr id="15" name="shape-15"/>
          <p:cNvSpPr/>
          <p:nvPr/>
        </p:nvSpPr>
        <p:spPr>
          <a:xfrm>
            <a:off x="304800" y="971550"/>
            <a:ext cx="11582400" cy="19050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6" name="text-16"/>
          <p:cNvSpPr txBox="1"/>
          <p:nvPr/>
        </p:nvSpPr>
        <p:spPr>
          <a:xfrm>
            <a:off x="304800" y="1066800"/>
            <a:ext cx="9048750" cy="2857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275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参考文献 · 延伸条目均取自所上传综述的参考文献表</a:t>
            </a:r>
            <a:endParaRPr lang="zh-CN" sz="1275"/>
          </a:p>
        </p:txBody>
      </p:sp>
      <p:sp>
        <p:nvSpPr>
          <p:cNvPr id="17" name="shape-17"/>
          <p:cNvSpPr/>
          <p:nvPr/>
        </p:nvSpPr>
        <p:spPr>
          <a:xfrm>
            <a:off x="304800" y="6429375"/>
            <a:ext cx="11582400" cy="9525"/>
          </a:xfrm>
          <a:prstGeom prst="rect">
            <a:avLst/>
          </a:prstGeom>
          <a:solidFill>
            <a:srgbClr val="D4E8ED"/>
          </a:solidFill>
        </p:spPr>
      </p:sp>
      <p:sp>
        <p:nvSpPr>
          <p:cNvPr id="18" name="text-18"/>
          <p:cNvSpPr txBox="1"/>
          <p:nvPr/>
        </p:nvSpPr>
        <p:spPr>
          <a:xfrm>
            <a:off x="304800" y="6515100"/>
            <a:ext cx="9525000" cy="2190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0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Grande et al. · Ocean Modelling (2026) · 文献汇报</a:t>
            </a:r>
            <a:endParaRPr lang="zh-CN" sz="1050"/>
          </a:p>
        </p:txBody>
      </p:sp>
      <p:sp>
        <p:nvSpPr>
          <p:cNvPr id="19" name="text-19"/>
          <p:cNvSpPr txBox="1"/>
          <p:nvPr/>
        </p:nvSpPr>
        <p:spPr>
          <a:xfrm>
            <a:off x="11220450" y="6496050"/>
            <a:ext cx="666750" cy="2476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r>
              <a:rPr lang="zh-CN" sz="1275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19</a:t>
            </a:r>
            <a:endParaRPr lang="zh-CN" sz="1275"/>
          </a:p>
        </p:txBody>
      </p:sp>
      <p:sp>
        <p:nvSpPr>
          <p:cNvPr id="20" name="text-20"/>
          <p:cNvSpPr txBox="1"/>
          <p:nvPr/>
        </p:nvSpPr>
        <p:spPr>
          <a:xfrm>
            <a:off x="304800" y="1552575"/>
            <a:ext cx="11582400" cy="33337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80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主文献</a:t>
            </a:r>
            <a:endParaRPr lang="zh-CN" sz="1800"/>
          </a:p>
        </p:txBody>
      </p:sp>
      <p:sp>
        <p:nvSpPr>
          <p:cNvPr id="21" name="text-21"/>
          <p:cNvSpPr txBox="1"/>
          <p:nvPr/>
        </p:nvSpPr>
        <p:spPr>
          <a:xfrm>
            <a:off x="304800" y="1971675"/>
            <a:ext cx="115824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Grande, D., Buizza, R., &amp; Storto, A. (2026). Machine learning in ocean data assimilation: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Advances, gaps and the road to operations. Ocean Modelling, 200, 102678.</a:t>
            </a:r>
            <a:endParaRPr lang="zh-CN" sz="1725"/>
          </a:p>
          <a:p>
            <a:pPr algn="l">
              <a:lnSpc>
                <a:spcPct val="125000"/>
              </a:lnSpc>
            </a:pPr>
            <a:r>
              <a:rPr lang="zh-CN" sz="172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DOI: 10.1016/j.ocemod.2026.102678</a:t>
            </a:r>
            <a:endParaRPr lang="zh-CN" sz="1725"/>
          </a:p>
        </p:txBody>
      </p:sp>
      <p:sp>
        <p:nvSpPr>
          <p:cNvPr id="22" name="text-22"/>
          <p:cNvSpPr txBox="1"/>
          <p:nvPr/>
        </p:nvSpPr>
        <p:spPr>
          <a:xfrm>
            <a:off x="304800" y="3209925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变分插值</a:t>
            </a:r>
            <a:endParaRPr lang="zh-CN" sz="1650"/>
          </a:p>
        </p:txBody>
      </p:sp>
      <p:sp>
        <p:nvSpPr>
          <p:cNvPr id="23" name="text-23"/>
          <p:cNvSpPr txBox="1"/>
          <p:nvPr/>
        </p:nvSpPr>
        <p:spPr>
          <a:xfrm>
            <a:off x="2047875" y="3209925"/>
            <a:ext cx="97917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Beauchamp et al. (2023). 4DVarNet-SSH. GMD, 16, 2119–2147.</a:t>
            </a:r>
            <a:endParaRPr lang="zh-CN" sz="1575"/>
          </a:p>
        </p:txBody>
      </p:sp>
      <p:sp>
        <p:nvSpPr>
          <p:cNvPr id="24" name="text-24"/>
          <p:cNvSpPr txBox="1"/>
          <p:nvPr/>
        </p:nvSpPr>
        <p:spPr>
          <a:xfrm>
            <a:off x="2047875" y="3543300"/>
            <a:ext cx="9791700" cy="2762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3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DOI: 10.5194/gmd-16-2119-2023</a:t>
            </a:r>
            <a:endParaRPr lang="zh-CN" sz="1350"/>
          </a:p>
        </p:txBody>
      </p:sp>
      <p:sp>
        <p:nvSpPr>
          <p:cNvPr id="25" name="text-25"/>
          <p:cNvSpPr txBox="1"/>
          <p:nvPr/>
        </p:nvSpPr>
        <p:spPr>
          <a:xfrm>
            <a:off x="304800" y="3933825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生成式同化</a:t>
            </a:r>
            <a:endParaRPr lang="zh-CN" sz="1650"/>
          </a:p>
        </p:txBody>
      </p:sp>
      <p:sp>
        <p:nvSpPr>
          <p:cNvPr id="26" name="text-26"/>
          <p:cNvSpPr txBox="1"/>
          <p:nvPr/>
        </p:nvSpPr>
        <p:spPr>
          <a:xfrm>
            <a:off x="2047875" y="3933825"/>
            <a:ext cx="97917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Martin et al. (2025). Generative data assimilation（题名节录）.</a:t>
            </a:r>
            <a:endParaRPr lang="zh-CN" sz="1575"/>
          </a:p>
        </p:txBody>
      </p:sp>
      <p:sp>
        <p:nvSpPr>
          <p:cNvPr id="27" name="text-27"/>
          <p:cNvSpPr txBox="1"/>
          <p:nvPr/>
        </p:nvSpPr>
        <p:spPr>
          <a:xfrm>
            <a:off x="2047875" y="4267200"/>
            <a:ext cx="9791700" cy="2762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3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DOI: 10.31223/X5ZT6N</a:t>
            </a:r>
            <a:endParaRPr lang="zh-CN" sz="1350"/>
          </a:p>
        </p:txBody>
      </p:sp>
      <p:sp>
        <p:nvSpPr>
          <p:cNvPr id="28" name="text-28"/>
          <p:cNvSpPr txBox="1"/>
          <p:nvPr/>
        </p:nvSpPr>
        <p:spPr>
          <a:xfrm>
            <a:off x="304800" y="4657725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神经算子</a:t>
            </a:r>
            <a:endParaRPr lang="zh-CN" sz="1650"/>
          </a:p>
        </p:txBody>
      </p:sp>
      <p:sp>
        <p:nvSpPr>
          <p:cNvPr id="29" name="text-29"/>
          <p:cNvSpPr txBox="1"/>
          <p:nvPr/>
        </p:nvSpPr>
        <p:spPr>
          <a:xfrm>
            <a:off x="2047875" y="4657725"/>
            <a:ext cx="97917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Chattopadhyay et al. (2024). OceanNet. Scientific Reports, 14, 21181.</a:t>
            </a:r>
            <a:endParaRPr lang="zh-CN" sz="1575"/>
          </a:p>
        </p:txBody>
      </p:sp>
      <p:sp>
        <p:nvSpPr>
          <p:cNvPr id="30" name="text-30"/>
          <p:cNvSpPr txBox="1"/>
          <p:nvPr/>
        </p:nvSpPr>
        <p:spPr>
          <a:xfrm>
            <a:off x="2047875" y="4991100"/>
            <a:ext cx="9791700" cy="2762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3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DOI: 10.1038/s41598-024-72145-0</a:t>
            </a:r>
            <a:endParaRPr lang="zh-CN" sz="1350"/>
          </a:p>
        </p:txBody>
      </p:sp>
      <p:sp>
        <p:nvSpPr>
          <p:cNvPr id="31" name="text-31"/>
          <p:cNvSpPr txBox="1"/>
          <p:nvPr/>
        </p:nvSpPr>
        <p:spPr>
          <a:xfrm>
            <a:off x="304800" y="5381625"/>
            <a:ext cx="1619250" cy="32385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650" b="1" dirty="0">
                <a:solidFill>
                  <a:srgbClr val="087F9A"/>
                </a:solidFill>
                <a:latin typeface="Noto Sans CJK SC"/>
                <a:ea typeface="Noto Sans CJK SC"/>
                <a:cs typeface="Noto Sans CJK SC"/>
              </a:rPr>
              <a:t>强耦合同化</a:t>
            </a:r>
            <a:endParaRPr lang="zh-CN" sz="1650"/>
          </a:p>
        </p:txBody>
      </p:sp>
      <p:sp>
        <p:nvSpPr>
          <p:cNvPr id="32" name="text-32"/>
          <p:cNvSpPr txBox="1"/>
          <p:nvPr/>
        </p:nvSpPr>
        <p:spPr>
          <a:xfrm>
            <a:off x="2047875" y="5381625"/>
            <a:ext cx="97917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575" b="0" dirty="0">
                <a:solidFill>
                  <a:srgbClr val="173E4A"/>
                </a:solidFill>
                <a:latin typeface="Noto Sans CJK SC"/>
                <a:ea typeface="Noto Sans CJK SC"/>
                <a:cs typeface="Noto Sans CJK SC"/>
              </a:rPr>
              <a:t>Wang &amp; Shen (2024). A DNN-EAKF and its application on SCDA. JMSE, 12, 108.</a:t>
            </a:r>
            <a:endParaRPr lang="zh-CN" sz="1575"/>
          </a:p>
        </p:txBody>
      </p:sp>
      <p:sp>
        <p:nvSpPr>
          <p:cNvPr id="33" name="text-33"/>
          <p:cNvSpPr txBox="1"/>
          <p:nvPr/>
        </p:nvSpPr>
        <p:spPr>
          <a:xfrm>
            <a:off x="2047875" y="5715000"/>
            <a:ext cx="9791700" cy="2762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zh-CN" sz="1350" b="0" dirty="0">
                <a:solidFill>
                  <a:srgbClr val="526B73"/>
                </a:solidFill>
                <a:latin typeface="Noto Sans CJK SC"/>
                <a:ea typeface="Noto Sans CJK SC"/>
                <a:cs typeface="Noto Sans CJK SC"/>
              </a:rPr>
              <a:t>DOI: 10.3390/jmse12010108</a:t>
            </a:r>
            <a:endParaRPr lang="zh-CN" sz="1350"/>
          </a:p>
        </p:txBody>
      </p:sp>
    </p:spTree>
    <p:extLst>
      <p:ext uri="{BB962C8B-B14F-4D97-AF65-F5344CB8AC3E}">
        <ns2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19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ScholarFlow contributors</dc:creator>
  <ns0:lastModifiedBy>ScholarFlow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